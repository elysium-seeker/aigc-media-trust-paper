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6" r:id="rId3"/>
    <p:sldId id="257" r:id="rId4"/>
    <p:sldId id="258" r:id="rId5"/>
    <p:sldId id="264" r:id="rId6"/>
    <p:sldId id="260" r:id="rId7"/>
    <p:sldId id="265" r:id="rId8"/>
    <p:sldId id="262" r:id="rId9"/>
    <p:sldId id="266" r:id="rId10"/>
    <p:sldId id="267" r:id="rId11"/>
    <p:sldId id="268" r:id="rId12"/>
    <p:sldId id="269" r:id="rId13"/>
    <p:sldId id="270"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EF0"/>
    <a:srgbClr val="F9FDE9"/>
    <a:srgbClr val="F9FDE3"/>
    <a:srgbClr val="F7F9E7"/>
    <a:srgbClr val="F2F5D7"/>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showGuides="1">
      <p:cViewPr varScale="1">
        <p:scale>
          <a:sx n="102" d="100"/>
          <a:sy n="102" d="100"/>
        </p:scale>
        <p:origin x="292" y="2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94A03-1BD8-4901-A439-C0AEAD75A30D}" type="datetimeFigureOut">
              <a:rPr lang="zh-CN" altLang="en-US" smtClean="0"/>
              <a:t>2026/6/11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F51B2-F00B-48B1-8EA0-A314F71BD8DE}" type="slidenum">
              <a:rPr lang="zh-CN" altLang="en-US" smtClean="0"/>
              <a:t>‹#›</a:t>
            </a:fld>
            <a:endParaRPr lang="zh-CN" altLang="en-US"/>
          </a:p>
        </p:txBody>
      </p:sp>
    </p:spTree>
    <p:extLst>
      <p:ext uri="{BB962C8B-B14F-4D97-AF65-F5344CB8AC3E}">
        <p14:creationId xmlns:p14="http://schemas.microsoft.com/office/powerpoint/2010/main" val="2044138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9F51B2-F00B-48B1-8EA0-A314F71BD8DE}" type="slidenum">
              <a:rPr lang="zh-CN" altLang="en-US" smtClean="0"/>
              <a:t>9</a:t>
            </a:fld>
            <a:endParaRPr lang="zh-CN" altLang="en-US"/>
          </a:p>
        </p:txBody>
      </p:sp>
    </p:spTree>
    <p:extLst>
      <p:ext uri="{BB962C8B-B14F-4D97-AF65-F5344CB8AC3E}">
        <p14:creationId xmlns:p14="http://schemas.microsoft.com/office/powerpoint/2010/main" val="1708365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9F51B2-F00B-48B1-8EA0-A314F71BD8DE}" type="slidenum">
              <a:rPr lang="zh-CN" altLang="en-US" smtClean="0"/>
              <a:t>10</a:t>
            </a:fld>
            <a:endParaRPr lang="zh-CN" altLang="en-US"/>
          </a:p>
        </p:txBody>
      </p:sp>
    </p:spTree>
    <p:extLst>
      <p:ext uri="{BB962C8B-B14F-4D97-AF65-F5344CB8AC3E}">
        <p14:creationId xmlns:p14="http://schemas.microsoft.com/office/powerpoint/2010/main" val="813123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7EEC-7209-1E49-BF67-17085B216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21D1A2-E904-527A-8706-FB4EA67A07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4D2F56-7F70-D01D-623D-3644306D98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81671E1-6C0A-F69F-9684-12C8957800AB}"/>
              </a:ext>
            </a:extLst>
          </p:cNvPr>
          <p:cNvSpPr>
            <a:spLocks noGrp="1"/>
          </p:cNvSpPr>
          <p:nvPr>
            <p:ph type="sldNum" sz="quarter" idx="5"/>
          </p:nvPr>
        </p:nvSpPr>
        <p:spPr/>
        <p:txBody>
          <a:bodyPr/>
          <a:lstStyle/>
          <a:p>
            <a:fld id="{A49F51B2-F00B-48B1-8EA0-A314F71BD8DE}" type="slidenum">
              <a:rPr lang="zh-CN" altLang="en-US" smtClean="0"/>
              <a:t>11</a:t>
            </a:fld>
            <a:endParaRPr lang="zh-CN" altLang="en-US"/>
          </a:p>
        </p:txBody>
      </p:sp>
    </p:spTree>
    <p:extLst>
      <p:ext uri="{BB962C8B-B14F-4D97-AF65-F5344CB8AC3E}">
        <p14:creationId xmlns:p14="http://schemas.microsoft.com/office/powerpoint/2010/main" val="178286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84398-0B88-44D5-3502-3977080769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B097FF-CDEA-7ED7-4C70-302D3FE80D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4A53D5-FCA0-AC5B-F746-93FDF41680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3D7AF8-0D95-6D50-5223-710DD14C3495}"/>
              </a:ext>
            </a:extLst>
          </p:cNvPr>
          <p:cNvSpPr>
            <a:spLocks noGrp="1"/>
          </p:cNvSpPr>
          <p:nvPr>
            <p:ph type="sldNum" sz="quarter" idx="5"/>
          </p:nvPr>
        </p:nvSpPr>
        <p:spPr/>
        <p:txBody>
          <a:bodyPr/>
          <a:lstStyle/>
          <a:p>
            <a:fld id="{A49F51B2-F00B-48B1-8EA0-A314F71BD8DE}" type="slidenum">
              <a:rPr lang="zh-CN" altLang="en-US" smtClean="0"/>
              <a:t>12</a:t>
            </a:fld>
            <a:endParaRPr lang="zh-CN" altLang="en-US"/>
          </a:p>
        </p:txBody>
      </p:sp>
    </p:spTree>
    <p:extLst>
      <p:ext uri="{BB962C8B-B14F-4D97-AF65-F5344CB8AC3E}">
        <p14:creationId xmlns:p14="http://schemas.microsoft.com/office/powerpoint/2010/main" val="939778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9397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50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134F4A-3CE2-A922-D13F-13E99D5D0FF1}"/>
              </a:ext>
            </a:extLst>
          </p:cNvPr>
          <p:cNvSpPr>
            <a:spLocks noGrp="1"/>
          </p:cNvSpPr>
          <p:nvPr>
            <p:ph type="title"/>
          </p:nvPr>
        </p:nvSpPr>
        <p:spPr>
          <a:xfrm>
            <a:off x="831852"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365A10A-03C5-62DD-12A7-C3F21FB909ED}"/>
              </a:ext>
            </a:extLst>
          </p:cNvPr>
          <p:cNvSpPr>
            <a:spLocks noGrp="1"/>
          </p:cNvSpPr>
          <p:nvPr>
            <p:ph type="body" idx="1"/>
          </p:nvPr>
        </p:nvSpPr>
        <p:spPr>
          <a:xfrm>
            <a:off x="831852" y="4589464"/>
            <a:ext cx="10515600" cy="1500187"/>
          </a:xfrm>
          <a:prstGeom prst="rect">
            <a:avLst/>
          </a:prstGeo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F7D2963-4EDE-BB66-3570-00AE11EA0690}"/>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39FA33A1-9C99-7FE1-AC5C-0B9038145B2C}"/>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112D69E-F34A-FB08-C9E4-935BD1E82F30}"/>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193111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88B6D-4742-EE59-39F7-82A84CA29536}"/>
              </a:ext>
            </a:extLst>
          </p:cNvPr>
          <p:cNvSpPr>
            <a:spLocks noGrp="1"/>
          </p:cNvSpPr>
          <p:nvPr>
            <p:ph type="title"/>
          </p:nvPr>
        </p:nvSpPr>
        <p:spPr>
          <a:xfrm>
            <a:off x="838202"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DFFA61F-D217-25E4-C050-9CF3C6E94074}"/>
              </a:ext>
            </a:extLst>
          </p:cNvPr>
          <p:cNvSpPr>
            <a:spLocks noGrp="1"/>
          </p:cNvSpPr>
          <p:nvPr>
            <p:ph sz="half" idx="1"/>
          </p:nvPr>
        </p:nvSpPr>
        <p:spPr>
          <a:xfrm>
            <a:off x="838201"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AD4061F-B4B2-3DD1-D623-BD26C406ED95}"/>
              </a:ext>
            </a:extLst>
          </p:cNvPr>
          <p:cNvSpPr>
            <a:spLocks noGrp="1"/>
          </p:cNvSpPr>
          <p:nvPr>
            <p:ph sz="half" idx="2"/>
          </p:nvPr>
        </p:nvSpPr>
        <p:spPr>
          <a:xfrm>
            <a:off x="6172201"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69CD21D-E178-F267-E40E-5E60F2279148}"/>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3967EABF-ACCE-0253-8E0B-20566170E2F3}"/>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AC908F3E-C5D8-794E-47ED-1BD89D8F4AD1}"/>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168255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F44FA-82E5-4E62-0EB9-49E58C2F143E}"/>
              </a:ext>
            </a:extLst>
          </p:cNvPr>
          <p:cNvSpPr>
            <a:spLocks noGrp="1"/>
          </p:cNvSpPr>
          <p:nvPr>
            <p:ph type="title"/>
          </p:nvPr>
        </p:nvSpPr>
        <p:spPr>
          <a:xfrm>
            <a:off x="839789"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AFA52D1-CCE1-AD65-4F72-E713F118CEAD}"/>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1218D7-9E38-FBD9-119A-48E4028FC55D}"/>
              </a:ext>
            </a:extLst>
          </p:cNvPr>
          <p:cNvSpPr>
            <a:spLocks noGrp="1"/>
          </p:cNvSpPr>
          <p:nvPr>
            <p:ph sz="half" idx="2"/>
          </p:nvPr>
        </p:nvSpPr>
        <p:spPr>
          <a:xfrm>
            <a:off x="839789" y="2505076"/>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D4D23D6-0390-82AC-BC2E-EAB7052E7A67}"/>
              </a:ext>
            </a:extLst>
          </p:cNvPr>
          <p:cNvSpPr>
            <a:spLocks noGrp="1"/>
          </p:cNvSpPr>
          <p:nvPr>
            <p:ph type="body" sz="quarter" idx="3"/>
          </p:nvPr>
        </p:nvSpPr>
        <p:spPr>
          <a:xfrm>
            <a:off x="6172202" y="1681163"/>
            <a:ext cx="5183188" cy="823912"/>
          </a:xfrm>
          <a:prstGeom prst="rect">
            <a:avLst/>
          </a:prstGeo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DD872CE-E134-DEE3-49EE-3BC73F2E0D9D}"/>
              </a:ext>
            </a:extLst>
          </p:cNvPr>
          <p:cNvSpPr>
            <a:spLocks noGrp="1"/>
          </p:cNvSpPr>
          <p:nvPr>
            <p:ph sz="quarter" idx="4"/>
          </p:nvPr>
        </p:nvSpPr>
        <p:spPr>
          <a:xfrm>
            <a:off x="6172202" y="2505076"/>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672EE4D-97A4-2975-C95D-5D50C6E75673}"/>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8" name="页脚占位符 7">
            <a:extLst>
              <a:ext uri="{FF2B5EF4-FFF2-40B4-BE49-F238E27FC236}">
                <a16:creationId xmlns:a16="http://schemas.microsoft.com/office/drawing/2014/main" id="{E6D05CA4-C7D9-9C82-8500-35B05DFB1716}"/>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790B5953-7C3B-061C-648F-563A38FEC2E0}"/>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1148984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A71772-7DC9-E5F5-E4FF-ADB9967DE9CB}"/>
              </a:ext>
            </a:extLst>
          </p:cNvPr>
          <p:cNvSpPr>
            <a:spLocks noGrp="1"/>
          </p:cNvSpPr>
          <p:nvPr>
            <p:ph type="title"/>
          </p:nvPr>
        </p:nvSpPr>
        <p:spPr>
          <a:xfrm>
            <a:off x="838202"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DE8B351-BF0D-AAE1-6640-526C56FF689D}"/>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4" name="页脚占位符 3">
            <a:extLst>
              <a:ext uri="{FF2B5EF4-FFF2-40B4-BE49-F238E27FC236}">
                <a16:creationId xmlns:a16="http://schemas.microsoft.com/office/drawing/2014/main" id="{6664E633-C77C-02F8-C528-584E92A0908C}"/>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91C00D0C-28B3-6D4A-C3B1-82E963C295D0}"/>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2400236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D554FBC-80DC-25F1-47A3-F94C0641D35D}"/>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3" name="页脚占位符 2">
            <a:extLst>
              <a:ext uri="{FF2B5EF4-FFF2-40B4-BE49-F238E27FC236}">
                <a16:creationId xmlns:a16="http://schemas.microsoft.com/office/drawing/2014/main" id="{379A3382-BFF8-ACCD-2B10-095EC1B5B542}"/>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A677C889-94E2-683E-21CD-85E690C7CC5F}"/>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1080316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4C13A-EC7A-1504-4F84-C3C92CD43760}"/>
              </a:ext>
            </a:extLst>
          </p:cNvPr>
          <p:cNvSpPr>
            <a:spLocks noGrp="1"/>
          </p:cNvSpPr>
          <p:nvPr>
            <p:ph type="title"/>
          </p:nvPr>
        </p:nvSpPr>
        <p:spPr>
          <a:xfrm>
            <a:off x="839790" y="457200"/>
            <a:ext cx="3932236"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55C374F-A81A-7537-C201-32FFE72E5E86}"/>
              </a:ext>
            </a:extLst>
          </p:cNvPr>
          <p:cNvSpPr>
            <a:spLocks noGrp="1"/>
          </p:cNvSpPr>
          <p:nvPr>
            <p:ph idx="1"/>
          </p:nvPr>
        </p:nvSpPr>
        <p:spPr>
          <a:xfrm>
            <a:off x="5183188" y="987425"/>
            <a:ext cx="6172201"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E615F7A-252F-2C9A-3D11-E4130268818E}"/>
              </a:ext>
            </a:extLst>
          </p:cNvPr>
          <p:cNvSpPr>
            <a:spLocks noGrp="1"/>
          </p:cNvSpPr>
          <p:nvPr>
            <p:ph type="body" sz="half" idx="2"/>
          </p:nvPr>
        </p:nvSpPr>
        <p:spPr>
          <a:xfrm>
            <a:off x="839790" y="2057400"/>
            <a:ext cx="3932236" cy="3811588"/>
          </a:xfrm>
          <a:prstGeom prst="rect">
            <a:avLst/>
          </a:prstGeo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C87D33-C410-2CCA-6E58-BB929C4893CC}"/>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9EDC786A-3688-CE04-B3BB-0EA4B47B8A1B}"/>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5E30B7E-CFCF-FBA9-D6DE-E37D31E4AB01}"/>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729535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819C4-7329-2F68-BAC9-904238CEE39C}"/>
              </a:ext>
            </a:extLst>
          </p:cNvPr>
          <p:cNvSpPr>
            <a:spLocks noGrp="1"/>
          </p:cNvSpPr>
          <p:nvPr>
            <p:ph type="title"/>
          </p:nvPr>
        </p:nvSpPr>
        <p:spPr>
          <a:xfrm>
            <a:off x="839790" y="457200"/>
            <a:ext cx="3932236"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7C70948-DC61-F620-8030-9E971837064D}"/>
              </a:ext>
            </a:extLst>
          </p:cNvPr>
          <p:cNvSpPr>
            <a:spLocks noGrp="1"/>
          </p:cNvSpPr>
          <p:nvPr>
            <p:ph type="pic" idx="1"/>
          </p:nvPr>
        </p:nvSpPr>
        <p:spPr>
          <a:xfrm>
            <a:off x="5183188" y="987425"/>
            <a:ext cx="6172201" cy="4873625"/>
          </a:xfrm>
          <a:prstGeom prst="rect">
            <a:avLst/>
          </a:prstGeo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zh-CN" altLang="en-US"/>
          </a:p>
        </p:txBody>
      </p:sp>
      <p:sp>
        <p:nvSpPr>
          <p:cNvPr id="4" name="文本占位符 3">
            <a:extLst>
              <a:ext uri="{FF2B5EF4-FFF2-40B4-BE49-F238E27FC236}">
                <a16:creationId xmlns:a16="http://schemas.microsoft.com/office/drawing/2014/main" id="{A78AA799-8C1E-A10E-3795-B1E7581D80DB}"/>
              </a:ext>
            </a:extLst>
          </p:cNvPr>
          <p:cNvSpPr>
            <a:spLocks noGrp="1"/>
          </p:cNvSpPr>
          <p:nvPr>
            <p:ph type="body" sz="half" idx="2"/>
          </p:nvPr>
        </p:nvSpPr>
        <p:spPr>
          <a:xfrm>
            <a:off x="839790" y="2057400"/>
            <a:ext cx="3932236" cy="3811588"/>
          </a:xfrm>
          <a:prstGeom prst="rect">
            <a:avLst/>
          </a:prstGeo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936CBA-B6D6-F258-FBED-58DE93108F17}"/>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151DA7EA-B918-7616-1284-CA6FFEA1B1F8}"/>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3DD2A1D0-BC40-2BDE-CB7D-A41A26F14631}"/>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3299582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21776A-BB42-0CFC-C01F-D6C08B6A8C57}"/>
              </a:ext>
            </a:extLst>
          </p:cNvPr>
          <p:cNvSpPr>
            <a:spLocks noGrp="1"/>
          </p:cNvSpPr>
          <p:nvPr>
            <p:ph type="title"/>
          </p:nvPr>
        </p:nvSpPr>
        <p:spPr>
          <a:xfrm>
            <a:off x="838202"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3773666-6C4F-FD2A-0E38-613EF9A2C8BD}"/>
              </a:ext>
            </a:extLst>
          </p:cNvPr>
          <p:cNvSpPr>
            <a:spLocks noGrp="1"/>
          </p:cNvSpPr>
          <p:nvPr>
            <p:ph type="body" orient="vert" idx="1"/>
          </p:nvPr>
        </p:nvSpPr>
        <p:spPr>
          <a:xfrm>
            <a:off x="838202"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5BA270-9032-7140-6E49-9BDD395426FE}"/>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85A6CC3E-261C-FD83-2786-BF5CC5D34E56}"/>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9AC0CD3-C3F5-D511-5547-DDABEC3BD098}"/>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3944010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8EC5A03-0E89-21FC-04CE-DC9B951CA9D7}"/>
              </a:ext>
            </a:extLst>
          </p:cNvPr>
          <p:cNvSpPr>
            <a:spLocks noGrp="1"/>
          </p:cNvSpPr>
          <p:nvPr>
            <p:ph type="title" orient="vert"/>
          </p:nvPr>
        </p:nvSpPr>
        <p:spPr>
          <a:xfrm>
            <a:off x="8724899"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39204B0-F5C6-FD7E-AD13-00BB97B3A603}"/>
              </a:ext>
            </a:extLst>
          </p:cNvPr>
          <p:cNvSpPr>
            <a:spLocks noGrp="1"/>
          </p:cNvSpPr>
          <p:nvPr>
            <p:ph type="body" orient="vert" idx="1"/>
          </p:nvPr>
        </p:nvSpPr>
        <p:spPr>
          <a:xfrm>
            <a:off x="838199"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334E9BE-E219-778B-D944-A7830AC11B9A}"/>
              </a:ext>
            </a:extLst>
          </p:cNvPr>
          <p:cNvSpPr>
            <a:spLocks noGrp="1"/>
          </p:cNvSpPr>
          <p:nvPr>
            <p:ph type="dt" sz="half" idx="10"/>
          </p:nvPr>
        </p:nvSpPr>
        <p:spPr>
          <a:xfrm>
            <a:off x="838201" y="6356351"/>
            <a:ext cx="2743200" cy="365125"/>
          </a:xfrm>
          <a:prstGeom prst="rect">
            <a:avLst/>
          </a:prstGeom>
        </p:spPr>
        <p:txBody>
          <a:bodyPr/>
          <a:lstStyle/>
          <a:p>
            <a:fld id="{2438F1DB-CC1B-4F25-A55F-C6742BE5707F}"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6AF52499-24F2-218C-FFD4-856E5E536202}"/>
              </a:ext>
            </a:extLst>
          </p:cNvPr>
          <p:cNvSpPr>
            <a:spLocks noGrp="1"/>
          </p:cNvSpPr>
          <p:nvPr>
            <p:ph type="ftr" sz="quarter" idx="11"/>
          </p:nvPr>
        </p:nvSpPr>
        <p:spPr>
          <a:xfrm>
            <a:off x="4038602" y="6356351"/>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78602AE-E9F3-43CC-CDB3-58FDFB1FD2B5}"/>
              </a:ext>
            </a:extLst>
          </p:cNvPr>
          <p:cNvSpPr>
            <a:spLocks noGrp="1"/>
          </p:cNvSpPr>
          <p:nvPr>
            <p:ph type="sldNum" sz="quarter" idx="12"/>
          </p:nvPr>
        </p:nvSpPr>
        <p:spPr>
          <a:xfrm>
            <a:off x="8610601" y="6356351"/>
            <a:ext cx="2743200" cy="365125"/>
          </a:xfrm>
          <a:prstGeom prst="rect">
            <a:avLst/>
          </a:prstGeom>
        </p:spPr>
        <p:txBody>
          <a:bodyPr/>
          <a:lstStyle/>
          <a:p>
            <a:fld id="{FD8EAD2E-DB89-4294-A5EB-316403FB89CC}" type="slidenum">
              <a:rPr lang="zh-CN" altLang="en-US" smtClean="0"/>
              <a:t>‹#›</a:t>
            </a:fld>
            <a:endParaRPr lang="zh-CN" altLang="en-US"/>
          </a:p>
        </p:txBody>
      </p:sp>
    </p:spTree>
    <p:extLst>
      <p:ext uri="{BB962C8B-B14F-4D97-AF65-F5344CB8AC3E}">
        <p14:creationId xmlns:p14="http://schemas.microsoft.com/office/powerpoint/2010/main" val="1463835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144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1731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0FC095-89E3-5DAB-B504-69BEDF40487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64B187-F98D-FE39-B8AC-9149E6F06C2C}"/>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1104E4-3FC8-3959-D4B7-02B3D9F3E971}"/>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925E9D3F-804B-6453-3984-8F48B64B905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815CADFE-8ADF-DB89-62CF-3CA5CF1DBEE2}"/>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4268928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ED3E0D-65CE-C908-3728-0AA1D16A2AA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AE09539-2F2D-174A-AB11-66265771929D}"/>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BB75E9B-4BAE-47FB-1667-FBE0D61FD2E3}"/>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4667783-F5A7-2C5D-A611-88D99E398C63}"/>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FAF600D3-59C4-7742-0E48-6CA91A25BE2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E589A5E0-4EC6-511D-9903-E8A60468A01C}"/>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1825593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3FFA0-8059-43CC-FF6C-6A80C8C045E9}"/>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D2E2364-E31A-48CC-A17A-DB583925C84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7C6F5A-216D-149E-F288-B7DEDA86909B}"/>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38B4709-93D1-F679-01F4-4161A4702B1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F9CD27-F4DD-4AF5-E727-3AC0D6CA52FB}"/>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4E701D8-E736-9E38-2B88-877F953EC49B}"/>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8" name="页脚占位符 7">
            <a:extLst>
              <a:ext uri="{FF2B5EF4-FFF2-40B4-BE49-F238E27FC236}">
                <a16:creationId xmlns:a16="http://schemas.microsoft.com/office/drawing/2014/main" id="{874A0D5C-8EE4-453C-2EEA-64D9AD3C81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A7877CDE-71B0-CE19-E0AE-E3AC8569F29F}"/>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184786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FA3CFD-A195-1D90-7AD0-CD7D9E0F5241}"/>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C2C983E-6FE2-A923-2382-4A291E4E2386}"/>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4" name="页脚占位符 3">
            <a:extLst>
              <a:ext uri="{FF2B5EF4-FFF2-40B4-BE49-F238E27FC236}">
                <a16:creationId xmlns:a16="http://schemas.microsoft.com/office/drawing/2014/main" id="{F01DB294-F4DC-97F7-68AC-386801254B6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B157F991-0EF3-EBA7-80A7-2B851C3684B3}"/>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419985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4B2B22-E278-329F-19E8-37B42365B3A0}"/>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3" name="页脚占位符 2">
            <a:extLst>
              <a:ext uri="{FF2B5EF4-FFF2-40B4-BE49-F238E27FC236}">
                <a16:creationId xmlns:a16="http://schemas.microsoft.com/office/drawing/2014/main" id="{0CF369C1-3571-8552-E39A-C2EF3B00864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D6874E31-2E48-EF56-29C5-9F59DA23699D}"/>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2394305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454D-9E9F-050B-9A63-1397A941B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58A0B22-C9D6-F2DA-2584-921278163D5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7FBFC30-D71F-40ED-7B46-35590C08FD3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260565-8C9A-2B63-A8E6-87C22AFFF4EC}"/>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38FAA857-2700-E985-6442-675DF0D097C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0F4DD1BF-9A0E-6B3D-43DB-D890982CC546}"/>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6407410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7F6E3-7DB8-B7EB-BD48-4F764A24C60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B017CF-5310-B44F-3FE4-AF36A8BE590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7C2C755-ED54-D4B7-8DDF-16FD51C4CC4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EDB636-3885-0525-058B-8C022D4098A4}"/>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6" name="页脚占位符 5">
            <a:extLst>
              <a:ext uri="{FF2B5EF4-FFF2-40B4-BE49-F238E27FC236}">
                <a16:creationId xmlns:a16="http://schemas.microsoft.com/office/drawing/2014/main" id="{C8172DD9-3E3B-D0CE-37CB-CB0F861988C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0E74321-9890-7939-62FA-0AE033542B60}"/>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9169719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2A5711-92F8-A27D-1815-239A5CA35301}"/>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78B622C-E08B-D7EC-7774-002112CFE01E}"/>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C29B84-34AA-9F64-BA00-29F2D290F20E}"/>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7BAA8292-A68A-C699-1C4A-2C0DFC96BE8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1EF63F2-8712-E068-646C-782F3A0EE248}"/>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18660241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9F78EF8-948C-B95D-2A07-AC2BD377E9CB}"/>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2BD02DB-C20C-4769-BCED-1B8B3F1C9B43}"/>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5B9A70-4E99-69A3-E4AD-2338F635D6DD}"/>
              </a:ext>
            </a:extLst>
          </p:cNvPr>
          <p:cNvSpPr>
            <a:spLocks noGrp="1"/>
          </p:cNvSpPr>
          <p:nvPr>
            <p:ph type="dt" sz="half" idx="10"/>
          </p:nvPr>
        </p:nvSpPr>
        <p:spPr>
          <a:xfrm>
            <a:off x="838200" y="6356350"/>
            <a:ext cx="2743200" cy="365125"/>
          </a:xfrm>
          <a:prstGeom prst="rect">
            <a:avLst/>
          </a:prstGeom>
        </p:spPr>
        <p:txBody>
          <a:bodyPr/>
          <a:lstStyle/>
          <a:p>
            <a:fld id="{890F4F92-994F-420F-B7DC-B3401EE29F37}" type="datetimeFigureOut">
              <a:rPr lang="zh-CN" altLang="en-US" smtClean="0"/>
              <a:t>2026/6/11</a:t>
            </a:fld>
            <a:endParaRPr lang="zh-CN" altLang="en-US"/>
          </a:p>
        </p:txBody>
      </p:sp>
      <p:sp>
        <p:nvSpPr>
          <p:cNvPr id="5" name="页脚占位符 4">
            <a:extLst>
              <a:ext uri="{FF2B5EF4-FFF2-40B4-BE49-F238E27FC236}">
                <a16:creationId xmlns:a16="http://schemas.microsoft.com/office/drawing/2014/main" id="{BD4DA42C-2A76-8F41-3DF1-4E0844D8379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167A407-8FB5-3560-5870-754B5413AEE9}"/>
              </a:ext>
            </a:extLst>
          </p:cNvPr>
          <p:cNvSpPr>
            <a:spLocks noGrp="1"/>
          </p:cNvSpPr>
          <p:nvPr>
            <p:ph type="sldNum" sz="quarter" idx="12"/>
          </p:nvPr>
        </p:nvSpPr>
        <p:spPr>
          <a:xfrm>
            <a:off x="8610600" y="6356350"/>
            <a:ext cx="2743200" cy="365125"/>
          </a:xfrm>
          <a:prstGeom prst="rect">
            <a:avLst/>
          </a:prstGeom>
        </p:spPr>
        <p:txBody>
          <a:bodyPr/>
          <a:lstStyle/>
          <a:p>
            <a:fld id="{CF86AC3D-594C-46EE-B96B-B24A814E97C6}" type="slidenum">
              <a:rPr lang="zh-CN" altLang="en-US" smtClean="0"/>
              <a:t>‹#›</a:t>
            </a:fld>
            <a:endParaRPr lang="zh-CN" altLang="en-US"/>
          </a:p>
        </p:txBody>
      </p:sp>
    </p:spTree>
    <p:extLst>
      <p:ext uri="{BB962C8B-B14F-4D97-AF65-F5344CB8AC3E}">
        <p14:creationId xmlns:p14="http://schemas.microsoft.com/office/powerpoint/2010/main" val="1483494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9A09C01C-AFBF-2350-D13A-C8599ABC072C}"/>
              </a:ext>
            </a:extLst>
          </p:cNvPr>
          <p:cNvSpPr/>
          <p:nvPr userDrawn="1"/>
        </p:nvSpPr>
        <p:spPr>
          <a:xfrm>
            <a:off x="702644" y="529390"/>
            <a:ext cx="202132" cy="33688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9" name="矩形 8">
            <a:extLst>
              <a:ext uri="{FF2B5EF4-FFF2-40B4-BE49-F238E27FC236}">
                <a16:creationId xmlns:a16="http://schemas.microsoft.com/office/drawing/2014/main" id="{F7BF0AB1-88BB-1CC4-8A7A-21733DC29293}"/>
              </a:ext>
            </a:extLst>
          </p:cNvPr>
          <p:cNvSpPr/>
          <p:nvPr userDrawn="1"/>
        </p:nvSpPr>
        <p:spPr>
          <a:xfrm>
            <a:off x="10963177" y="6217921"/>
            <a:ext cx="672164" cy="19090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0" name="文本框 9">
            <a:extLst>
              <a:ext uri="{FF2B5EF4-FFF2-40B4-BE49-F238E27FC236}">
                <a16:creationId xmlns:a16="http://schemas.microsoft.com/office/drawing/2014/main" id="{3D5D0B09-E63C-842C-5C56-3025C5D5720F}"/>
              </a:ext>
            </a:extLst>
          </p:cNvPr>
          <p:cNvSpPr txBox="1"/>
          <p:nvPr userDrawn="1"/>
        </p:nvSpPr>
        <p:spPr>
          <a:xfrm>
            <a:off x="11053037" y="449179"/>
            <a:ext cx="492443" cy="461665"/>
          </a:xfrm>
          <a:prstGeom prst="rect">
            <a:avLst/>
          </a:prstGeom>
          <a:noFill/>
        </p:spPr>
        <p:txBody>
          <a:bodyPr wrap="none" rtlCol="0">
            <a:spAutoFit/>
          </a:bodyPr>
          <a:lstStyle/>
          <a:p>
            <a:r>
              <a:rPr lang="en-US" altLang="zh-CN" sz="2400" dirty="0"/>
              <a:t>×</a:t>
            </a:r>
            <a:endParaRPr lang="zh-CN" altLang="en-US" sz="2400" dirty="0"/>
          </a:p>
        </p:txBody>
      </p:sp>
      <p:sp>
        <p:nvSpPr>
          <p:cNvPr id="11" name="椭圆 10">
            <a:extLst>
              <a:ext uri="{FF2B5EF4-FFF2-40B4-BE49-F238E27FC236}">
                <a16:creationId xmlns:a16="http://schemas.microsoft.com/office/drawing/2014/main" id="{2A963E0A-1B99-4872-F66F-4AC50F75BB23}"/>
              </a:ext>
            </a:extLst>
          </p:cNvPr>
          <p:cNvSpPr/>
          <p:nvPr userDrawn="1"/>
        </p:nvSpPr>
        <p:spPr>
          <a:xfrm>
            <a:off x="2425568" y="2502568"/>
            <a:ext cx="1482290" cy="1482290"/>
          </a:xfrm>
          <a:prstGeom prst="ellipse">
            <a:avLst/>
          </a:prstGeom>
          <a:solidFill>
            <a:schemeClr val="tx1">
              <a:alpha val="3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2" name="椭圆 11">
            <a:extLst>
              <a:ext uri="{FF2B5EF4-FFF2-40B4-BE49-F238E27FC236}">
                <a16:creationId xmlns:a16="http://schemas.microsoft.com/office/drawing/2014/main" id="{D01C352D-0A5E-1940-8DCB-51835A489559}"/>
              </a:ext>
            </a:extLst>
          </p:cNvPr>
          <p:cNvSpPr/>
          <p:nvPr userDrawn="1"/>
        </p:nvSpPr>
        <p:spPr>
          <a:xfrm>
            <a:off x="5428649" y="-2146433"/>
            <a:ext cx="7697003" cy="7697002"/>
          </a:xfrm>
          <a:prstGeom prst="ellipse">
            <a:avLst/>
          </a:prstGeom>
          <a:noFill/>
          <a:ln w="6350">
            <a:solidFill>
              <a:schemeClr val="tx1">
                <a:alpha val="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3" name="椭圆 12">
            <a:extLst>
              <a:ext uri="{FF2B5EF4-FFF2-40B4-BE49-F238E27FC236}">
                <a16:creationId xmlns:a16="http://schemas.microsoft.com/office/drawing/2014/main" id="{E5C7A881-EA2E-99CE-EAE5-71888E0AFE76}"/>
              </a:ext>
            </a:extLst>
          </p:cNvPr>
          <p:cNvSpPr/>
          <p:nvPr userDrawn="1"/>
        </p:nvSpPr>
        <p:spPr>
          <a:xfrm>
            <a:off x="-530993" y="5436669"/>
            <a:ext cx="2772076" cy="2772076"/>
          </a:xfrm>
          <a:prstGeom prst="ellipse">
            <a:avLst/>
          </a:prstGeom>
          <a:noFill/>
          <a:ln w="6350">
            <a:solidFill>
              <a:schemeClr val="tx1">
                <a:alpha val="1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4" name="椭圆 13">
            <a:extLst>
              <a:ext uri="{FF2B5EF4-FFF2-40B4-BE49-F238E27FC236}">
                <a16:creationId xmlns:a16="http://schemas.microsoft.com/office/drawing/2014/main" id="{003F4D29-E3D6-848F-5B67-3330AA9C0CCF}"/>
              </a:ext>
            </a:extLst>
          </p:cNvPr>
          <p:cNvSpPr/>
          <p:nvPr userDrawn="1"/>
        </p:nvSpPr>
        <p:spPr>
          <a:xfrm>
            <a:off x="5117434" y="3984858"/>
            <a:ext cx="4353826" cy="4353826"/>
          </a:xfrm>
          <a:prstGeom prst="ellipse">
            <a:avLst/>
          </a:prstGeom>
          <a:solidFill>
            <a:schemeClr val="tx1">
              <a:alpha val="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Tree>
    <p:extLst>
      <p:ext uri="{BB962C8B-B14F-4D97-AF65-F5344CB8AC3E}">
        <p14:creationId xmlns:p14="http://schemas.microsoft.com/office/powerpoint/2010/main" val="4229779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zh-CN"/>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A962FAA-0C17-8791-8FF9-6B65214E120E}"/>
              </a:ext>
            </a:extLst>
          </p:cNvPr>
          <p:cNvSpPr/>
          <p:nvPr userDrawn="1"/>
        </p:nvSpPr>
        <p:spPr>
          <a:xfrm>
            <a:off x="2249125" y="529390"/>
            <a:ext cx="202132" cy="33688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8" name="矩形 7">
            <a:extLst>
              <a:ext uri="{FF2B5EF4-FFF2-40B4-BE49-F238E27FC236}">
                <a16:creationId xmlns:a16="http://schemas.microsoft.com/office/drawing/2014/main" id="{7FE259E6-3EA9-6655-F36D-3C1322E088D1}"/>
              </a:ext>
            </a:extLst>
          </p:cNvPr>
          <p:cNvSpPr/>
          <p:nvPr userDrawn="1"/>
        </p:nvSpPr>
        <p:spPr>
          <a:xfrm>
            <a:off x="9471260" y="6217921"/>
            <a:ext cx="672164" cy="19090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9" name="文本框 8">
            <a:extLst>
              <a:ext uri="{FF2B5EF4-FFF2-40B4-BE49-F238E27FC236}">
                <a16:creationId xmlns:a16="http://schemas.microsoft.com/office/drawing/2014/main" id="{536E8336-6F90-24CC-1056-658FE0994B4D}"/>
              </a:ext>
            </a:extLst>
          </p:cNvPr>
          <p:cNvSpPr txBox="1"/>
          <p:nvPr userDrawn="1"/>
        </p:nvSpPr>
        <p:spPr>
          <a:xfrm>
            <a:off x="9561120" y="449179"/>
            <a:ext cx="492443" cy="461665"/>
          </a:xfrm>
          <a:prstGeom prst="rect">
            <a:avLst/>
          </a:prstGeom>
          <a:noFill/>
        </p:spPr>
        <p:txBody>
          <a:bodyPr wrap="none" rtlCol="0">
            <a:spAutoFit/>
          </a:bodyPr>
          <a:lstStyle/>
          <a:p>
            <a:r>
              <a:rPr lang="en-US" altLang="zh-CN" sz="2400" dirty="0"/>
              <a:t>×</a:t>
            </a:r>
            <a:endParaRPr lang="zh-CN" altLang="en-US" sz="2400" dirty="0"/>
          </a:p>
        </p:txBody>
      </p:sp>
      <p:sp>
        <p:nvSpPr>
          <p:cNvPr id="10" name="椭圆 9">
            <a:extLst>
              <a:ext uri="{FF2B5EF4-FFF2-40B4-BE49-F238E27FC236}">
                <a16:creationId xmlns:a16="http://schemas.microsoft.com/office/drawing/2014/main" id="{AD7FA2D3-CB9B-00AB-1C7A-FCA34E348B5F}"/>
              </a:ext>
            </a:extLst>
          </p:cNvPr>
          <p:cNvSpPr/>
          <p:nvPr userDrawn="1"/>
        </p:nvSpPr>
        <p:spPr>
          <a:xfrm>
            <a:off x="2897207" y="1578543"/>
            <a:ext cx="1482290" cy="1482290"/>
          </a:xfrm>
          <a:prstGeom prst="ellipse">
            <a:avLst/>
          </a:prstGeom>
          <a:solidFill>
            <a:schemeClr val="tx1">
              <a:alpha val="3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1" name="椭圆 10">
            <a:extLst>
              <a:ext uri="{FF2B5EF4-FFF2-40B4-BE49-F238E27FC236}">
                <a16:creationId xmlns:a16="http://schemas.microsoft.com/office/drawing/2014/main" id="{5E65DAA7-8523-6170-AA67-1D258878D3D9}"/>
              </a:ext>
            </a:extLst>
          </p:cNvPr>
          <p:cNvSpPr/>
          <p:nvPr userDrawn="1"/>
        </p:nvSpPr>
        <p:spPr>
          <a:xfrm>
            <a:off x="1249681" y="5436669"/>
            <a:ext cx="2772076" cy="2772076"/>
          </a:xfrm>
          <a:prstGeom prst="ellipse">
            <a:avLst/>
          </a:prstGeom>
          <a:noFill/>
          <a:ln w="6350">
            <a:solidFill>
              <a:schemeClr val="tx1">
                <a:alpha val="1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2" name="椭圆 11">
            <a:extLst>
              <a:ext uri="{FF2B5EF4-FFF2-40B4-BE49-F238E27FC236}">
                <a16:creationId xmlns:a16="http://schemas.microsoft.com/office/drawing/2014/main" id="{588A957F-9E1B-B37B-F93C-7BC43991946C}"/>
              </a:ext>
            </a:extLst>
          </p:cNvPr>
          <p:cNvSpPr/>
          <p:nvPr userDrawn="1"/>
        </p:nvSpPr>
        <p:spPr>
          <a:xfrm>
            <a:off x="5117434" y="3984858"/>
            <a:ext cx="4353826" cy="4353826"/>
          </a:xfrm>
          <a:prstGeom prst="ellipse">
            <a:avLst/>
          </a:prstGeom>
          <a:solidFill>
            <a:schemeClr val="tx1">
              <a:alpha val="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Tree>
    <p:extLst>
      <p:ext uri="{BB962C8B-B14F-4D97-AF65-F5344CB8AC3E}">
        <p14:creationId xmlns:p14="http://schemas.microsoft.com/office/powerpoint/2010/main" val="1333675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8718D0F-54C3-A6D3-2809-81418CBFD6B6}"/>
              </a:ext>
            </a:extLst>
          </p:cNvPr>
          <p:cNvSpPr txBox="1"/>
          <p:nvPr/>
        </p:nvSpPr>
        <p:spPr>
          <a:xfrm>
            <a:off x="4013213" y="3429000"/>
            <a:ext cx="4165573" cy="707886"/>
          </a:xfrm>
          <a:prstGeom prst="rect">
            <a:avLst/>
          </a:prstGeom>
          <a:noFill/>
        </p:spPr>
        <p:txBody>
          <a:bodyPr wrap="square" rtlCol="0">
            <a:spAutoFit/>
          </a:bodyPr>
          <a:lstStyle/>
          <a:p>
            <a:pPr algn="ctr"/>
            <a:r>
              <a:rPr lang="en-US" altLang="zh-CN" sz="2000" dirty="0">
                <a:latin typeface="+mn-ea"/>
              </a:rPr>
              <a:t>Class 3 Group 6</a:t>
            </a:r>
          </a:p>
          <a:p>
            <a:pPr algn="ctr"/>
            <a:r>
              <a:rPr lang="en-US" altLang="zh-CN" sz="2000" dirty="0">
                <a:latin typeface="+mn-ea"/>
              </a:rPr>
              <a:t>2026.6.12</a:t>
            </a:r>
            <a:endParaRPr lang="zh-CN" altLang="en-US" sz="2000" dirty="0">
              <a:latin typeface="+mn-ea"/>
            </a:endParaRPr>
          </a:p>
        </p:txBody>
      </p:sp>
      <p:sp>
        <p:nvSpPr>
          <p:cNvPr id="3" name="文本框 2">
            <a:extLst>
              <a:ext uri="{FF2B5EF4-FFF2-40B4-BE49-F238E27FC236}">
                <a16:creationId xmlns:a16="http://schemas.microsoft.com/office/drawing/2014/main" id="{4CC1D1EC-7644-7830-CF2C-02F935744BB1}"/>
              </a:ext>
            </a:extLst>
          </p:cNvPr>
          <p:cNvSpPr txBox="1"/>
          <p:nvPr/>
        </p:nvSpPr>
        <p:spPr>
          <a:xfrm>
            <a:off x="385958" y="2783857"/>
            <a:ext cx="11420084" cy="646331"/>
          </a:xfrm>
          <a:prstGeom prst="rect">
            <a:avLst/>
          </a:prstGeom>
          <a:noFill/>
        </p:spPr>
        <p:txBody>
          <a:bodyPr wrap="square">
            <a:spAutoFit/>
          </a:bodyPr>
          <a:lstStyle/>
          <a:p>
            <a:pPr algn="ctr"/>
            <a:r>
              <a:rPr lang="en-US" altLang="zh-CN" sz="3600" b="1" dirty="0">
                <a:effectLst/>
                <a:latin typeface="Times New Roman" panose="02020603050405020304" pitchFamily="18" charset="0"/>
                <a:ea typeface="Times New Roman" panose="02020603050405020304" pitchFamily="18" charset="0"/>
              </a:rPr>
              <a:t>AI-Generated Visual Content Detection and Media Trust</a:t>
            </a:r>
            <a:endParaRPr lang="zh-CN" altLang="en-US" sz="23900" b="1" dirty="0">
              <a:latin typeface="+mj-ea"/>
              <a:ea typeface="+mj-ea"/>
            </a:endParaRPr>
          </a:p>
        </p:txBody>
      </p:sp>
    </p:spTree>
    <p:extLst>
      <p:ext uri="{BB962C8B-B14F-4D97-AF65-F5344CB8AC3E}">
        <p14:creationId xmlns:p14="http://schemas.microsoft.com/office/powerpoint/2010/main" val="1029778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E16F400C-5B4B-3661-A174-13408A20009D}"/>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93011E33-367F-407F-78C4-ACE1B078E32F}"/>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4" name="椭圆 3">
            <a:extLst>
              <a:ext uri="{FF2B5EF4-FFF2-40B4-BE49-F238E27FC236}">
                <a16:creationId xmlns:a16="http://schemas.microsoft.com/office/drawing/2014/main" id="{68BED105-EBA7-57E6-4E42-1DD3CEEBA845}"/>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262F8F5-DF54-508D-7F3A-F1257BCD059A}"/>
              </a:ext>
            </a:extLst>
          </p:cNvPr>
          <p:cNvSpPr txBox="1"/>
          <p:nvPr/>
        </p:nvSpPr>
        <p:spPr>
          <a:xfrm>
            <a:off x="5398346" y="2598004"/>
            <a:ext cx="1395317" cy="1569660"/>
          </a:xfrm>
          <a:prstGeom prst="rect">
            <a:avLst/>
          </a:prstGeom>
          <a:noFill/>
        </p:spPr>
        <p:txBody>
          <a:bodyPr wrap="none" rtlCol="0">
            <a:spAutoFit/>
          </a:bodyPr>
          <a:lstStyle/>
          <a:p>
            <a:pPr algn="ctr"/>
            <a:r>
              <a:rPr lang="en-US" altLang="zh-CN" sz="4800" dirty="0">
                <a:latin typeface="Times New Roman" panose="02020603050405020304" pitchFamily="18" charset="0"/>
                <a:ea typeface="+mj-ea"/>
                <a:cs typeface="Times New Roman" panose="02020603050405020304" pitchFamily="18" charset="0"/>
              </a:rPr>
              <a:t>Intro</a:t>
            </a:r>
          </a:p>
          <a:p>
            <a:pPr algn="ctr"/>
            <a:endParaRPr lang="zh-CN" altLang="en-US" sz="4800" dirty="0">
              <a:latin typeface="Times New Roman" panose="02020603050405020304" pitchFamily="18" charset="0"/>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2125468B-24AA-2DCE-E81F-A1522DF7F6AE}"/>
              </a:ext>
            </a:extLst>
          </p:cNvPr>
          <p:cNvSpPr txBox="1"/>
          <p:nvPr/>
        </p:nvSpPr>
        <p:spPr>
          <a:xfrm>
            <a:off x="5668539" y="3888138"/>
            <a:ext cx="854913" cy="369460"/>
          </a:xfrm>
          <a:prstGeom prst="rect">
            <a:avLst/>
          </a:prstGeom>
          <a:noFill/>
        </p:spPr>
        <p:txBody>
          <a:bodyPr wrap="none" rtlCol="0">
            <a:spAutoFit/>
          </a:bodyPr>
          <a:lstStyle/>
          <a:p>
            <a:pPr algn="ctr"/>
            <a:r>
              <a:rPr lang="en-US" altLang="zh-CN" sz="1801" dirty="0">
                <a:latin typeface="Times New Roman" panose="02020603050405020304" pitchFamily="18" charset="0"/>
                <a:ea typeface="+mj-ea"/>
                <a:cs typeface="Times New Roman" panose="02020603050405020304" pitchFamily="18" charset="0"/>
              </a:rPr>
              <a:t>PART1</a:t>
            </a:r>
            <a:endParaRPr lang="zh-CN" altLang="en-US" sz="180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2520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BA5CC07-E5AD-3380-7F3E-4041531B8DC2}"/>
              </a:ext>
            </a:extLst>
          </p:cNvPr>
          <p:cNvSpPr txBox="1"/>
          <p:nvPr/>
        </p:nvSpPr>
        <p:spPr>
          <a:xfrm>
            <a:off x="906965" y="386575"/>
            <a:ext cx="981359"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Intro</a:t>
            </a:r>
            <a:endParaRPr lang="zh-CN" altLang="en-US" sz="32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442AAEA6-AA6A-1D2B-766A-6E7ECE301B6C}"/>
              </a:ext>
            </a:extLst>
          </p:cNvPr>
          <p:cNvSpPr txBox="1"/>
          <p:nvPr/>
        </p:nvSpPr>
        <p:spPr>
          <a:xfrm>
            <a:off x="1397644" y="1494549"/>
            <a:ext cx="8874512" cy="1815882"/>
          </a:xfrm>
          <a:prstGeom prst="rect">
            <a:avLst/>
          </a:prstGeom>
          <a:noFill/>
        </p:spPr>
        <p:txBody>
          <a:bodyPr wrap="square" rtlCol="0">
            <a:spAutoFit/>
          </a:bodyPr>
          <a:lstStyle/>
          <a:p>
            <a:r>
              <a:rPr lang="en-US" altLang="zh-CN" sz="2800" kern="0" dirty="0">
                <a:effectLst/>
                <a:latin typeface="Times New Roman" panose="02020603050405020304" pitchFamily="18" charset="0"/>
                <a:ea typeface="Times New Roman" panose="02020603050405020304" pitchFamily="18" charset="0"/>
              </a:rPr>
              <a:t>Generative AI can generate photorealistic scenes, readable text, and interface-like layouts.</a:t>
            </a:r>
          </a:p>
          <a:p>
            <a:r>
              <a:rPr lang="en-US" altLang="zh-CN" sz="2800" dirty="0">
                <a:latin typeface="Times New Roman" panose="02020603050405020304" pitchFamily="18" charset="0"/>
                <a:cs typeface="Times New Roman" panose="02020603050405020304" pitchFamily="18" charset="0"/>
              </a:rPr>
              <a:t>Realistic AI-synthesized images can increase belief in misinformation</a:t>
            </a:r>
            <a:r>
              <a:rPr lang="en-US" altLang="zh-CN" sz="2800" kern="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E996BCAE-5AF4-7630-B549-C1E3DB72C8E1}"/>
              </a:ext>
            </a:extLst>
          </p:cNvPr>
          <p:cNvSpPr txBox="1"/>
          <p:nvPr/>
        </p:nvSpPr>
        <p:spPr>
          <a:xfrm>
            <a:off x="1397643" y="4029307"/>
            <a:ext cx="8874511" cy="1815882"/>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Can university-level respondents accurately distinguish AI-generated images from real images?</a:t>
            </a:r>
          </a:p>
          <a:p>
            <a:r>
              <a:rPr lang="en-US" altLang="zh-CN" sz="2800" dirty="0">
                <a:latin typeface="Times New Roman" panose="02020603050405020304" pitchFamily="18" charset="0"/>
                <a:cs typeface="Times New Roman" panose="02020603050405020304" pitchFamily="18" charset="0"/>
              </a:rPr>
              <a:t>How did their trust ratings differ by image source and category? </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16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9F0C0-A06B-5B2D-1361-645D32D67C2D}"/>
            </a:ext>
          </a:extLst>
        </p:cNvPr>
        <p:cNvGrpSpPr/>
        <p:nvPr/>
      </p:nvGrpSpPr>
      <p:grpSpPr>
        <a:xfrm>
          <a:off x="0" y="0"/>
          <a:ext cx="0" cy="0"/>
          <a:chOff x="0" y="0"/>
          <a:chExt cx="0" cy="0"/>
        </a:xfrm>
      </p:grpSpPr>
      <p:sp>
        <p:nvSpPr>
          <p:cNvPr id="2" name="椭圆 1">
            <a:extLst>
              <a:ext uri="{FF2B5EF4-FFF2-40B4-BE49-F238E27FC236}">
                <a16:creationId xmlns:a16="http://schemas.microsoft.com/office/drawing/2014/main" id="{20AB71DA-E253-1088-9628-0EA39C57DA39}"/>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FD2F8345-EF62-B147-AB23-ABB250E75A3C}"/>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4" name="椭圆 3">
            <a:extLst>
              <a:ext uri="{FF2B5EF4-FFF2-40B4-BE49-F238E27FC236}">
                <a16:creationId xmlns:a16="http://schemas.microsoft.com/office/drawing/2014/main" id="{19FD9F24-71DD-B978-A23A-AA7DBFE11B97}"/>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3449755A-3BA4-77C7-6746-BB5EC3E77026}"/>
              </a:ext>
            </a:extLst>
          </p:cNvPr>
          <p:cNvSpPr txBox="1"/>
          <p:nvPr/>
        </p:nvSpPr>
        <p:spPr>
          <a:xfrm>
            <a:off x="4927256" y="2598004"/>
            <a:ext cx="2337498" cy="1569660"/>
          </a:xfrm>
          <a:prstGeom prst="rect">
            <a:avLst/>
          </a:prstGeom>
          <a:noFill/>
        </p:spPr>
        <p:txBody>
          <a:bodyPr wrap="none" rtlCol="0">
            <a:spAutoFit/>
          </a:bodyPr>
          <a:lstStyle/>
          <a:p>
            <a:pPr algn="ctr"/>
            <a:r>
              <a:rPr lang="en-US" altLang="zh-CN" sz="4800" dirty="0">
                <a:latin typeface="Times New Roman" panose="02020603050405020304" pitchFamily="18" charset="0"/>
                <a:ea typeface="+mj-ea"/>
                <a:cs typeface="Times New Roman" panose="02020603050405020304" pitchFamily="18" charset="0"/>
              </a:rPr>
              <a:t>Methods</a:t>
            </a:r>
          </a:p>
          <a:p>
            <a:pPr algn="ctr"/>
            <a:endParaRPr lang="zh-CN" altLang="en-US" sz="4800" dirty="0">
              <a:latin typeface="Times New Roman" panose="02020603050405020304" pitchFamily="18" charset="0"/>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3DC2A7BA-DBB6-6D55-9210-1C90ABC8CED7}"/>
              </a:ext>
            </a:extLst>
          </p:cNvPr>
          <p:cNvSpPr txBox="1"/>
          <p:nvPr/>
        </p:nvSpPr>
        <p:spPr>
          <a:xfrm>
            <a:off x="5668544" y="3888138"/>
            <a:ext cx="854914" cy="369460"/>
          </a:xfrm>
          <a:prstGeom prst="rect">
            <a:avLst/>
          </a:prstGeom>
          <a:noFill/>
        </p:spPr>
        <p:txBody>
          <a:bodyPr wrap="none" rtlCol="0">
            <a:spAutoFit/>
          </a:bodyPr>
          <a:lstStyle/>
          <a:p>
            <a:pPr algn="ctr"/>
            <a:r>
              <a:rPr lang="en-US" altLang="zh-CN" sz="1801" dirty="0">
                <a:latin typeface="Times New Roman" panose="02020603050405020304" pitchFamily="18" charset="0"/>
                <a:ea typeface="+mj-ea"/>
                <a:cs typeface="Times New Roman" panose="02020603050405020304" pitchFamily="18" charset="0"/>
              </a:rPr>
              <a:t>PART2</a:t>
            </a:r>
            <a:endParaRPr lang="zh-CN" altLang="en-US" sz="180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816334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8A81CE7E-A1FD-48D7-1BFD-9B46F01D31B1}"/>
              </a:ext>
            </a:extLst>
          </p:cNvPr>
          <p:cNvPicPr>
            <a:picLocks noChangeAspect="1"/>
          </p:cNvPicPr>
          <p:nvPr/>
        </p:nvPicPr>
        <p:blipFill>
          <a:blip r:embed="rId2"/>
          <a:stretch>
            <a:fillRect/>
          </a:stretch>
        </p:blipFill>
        <p:spPr>
          <a:xfrm>
            <a:off x="6096000" y="3339836"/>
            <a:ext cx="5845217" cy="2772303"/>
          </a:xfrm>
          <a:prstGeom prst="rect">
            <a:avLst/>
          </a:prstGeom>
        </p:spPr>
      </p:pic>
      <p:sp>
        <p:nvSpPr>
          <p:cNvPr id="13" name="文本框 12">
            <a:extLst>
              <a:ext uri="{FF2B5EF4-FFF2-40B4-BE49-F238E27FC236}">
                <a16:creationId xmlns:a16="http://schemas.microsoft.com/office/drawing/2014/main" id="{2B950F7A-A2C1-7D20-9F7C-1FD9C46CBF01}"/>
              </a:ext>
            </a:extLst>
          </p:cNvPr>
          <p:cNvSpPr txBox="1"/>
          <p:nvPr/>
        </p:nvSpPr>
        <p:spPr>
          <a:xfrm>
            <a:off x="906965" y="386575"/>
            <a:ext cx="1622560"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Methods</a:t>
            </a:r>
            <a:endParaRPr lang="zh-CN" altLang="en-US" sz="32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CBC05517-C6FF-3F4A-ED0F-3B6F80353F78}"/>
              </a:ext>
            </a:extLst>
          </p:cNvPr>
          <p:cNvSpPr txBox="1"/>
          <p:nvPr/>
        </p:nvSpPr>
        <p:spPr>
          <a:xfrm>
            <a:off x="906965" y="1109739"/>
            <a:ext cx="6831980" cy="523220"/>
          </a:xfrm>
          <a:prstGeom prst="rect">
            <a:avLst/>
          </a:prstGeom>
          <a:noFill/>
        </p:spPr>
        <p:txBody>
          <a:bodyPr wrap="square">
            <a:spAutoFit/>
          </a:bodyPr>
          <a:lstStyle/>
          <a:p>
            <a:r>
              <a:rPr lang="en-US" altLang="zh-CN" sz="2800" b="1" dirty="0">
                <a:latin typeface="Times New Roman" panose="02020603050405020304" pitchFamily="18" charset="0"/>
                <a:cs typeface="Times New Roman" panose="02020603050405020304" pitchFamily="18" charset="0"/>
              </a:rPr>
              <a:t>S</a:t>
            </a:r>
            <a:r>
              <a:rPr lang="zh-CN" altLang="en-US" sz="2800" b="1" dirty="0">
                <a:latin typeface="Times New Roman" panose="02020603050405020304" pitchFamily="18" charset="0"/>
                <a:cs typeface="Times New Roman" panose="02020603050405020304" pitchFamily="18" charset="0"/>
              </a:rPr>
              <a:t>mall-scale quantitative survey</a:t>
            </a:r>
          </a:p>
        </p:txBody>
      </p:sp>
      <p:sp>
        <p:nvSpPr>
          <p:cNvPr id="16" name="文本框 15">
            <a:extLst>
              <a:ext uri="{FF2B5EF4-FFF2-40B4-BE49-F238E27FC236}">
                <a16:creationId xmlns:a16="http://schemas.microsoft.com/office/drawing/2014/main" id="{D0DE5369-66BB-443F-DC2F-04C3191EA684}"/>
              </a:ext>
            </a:extLst>
          </p:cNvPr>
          <p:cNvSpPr txBox="1"/>
          <p:nvPr/>
        </p:nvSpPr>
        <p:spPr>
          <a:xfrm>
            <a:off x="906965" y="1632959"/>
            <a:ext cx="5307980" cy="4893647"/>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1.Background characteristics, social media use, AI tool use, and self-rated AI image detection ability.</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2. The determination of whether each image is a real one or generated by artificial intelligence, and the rating of the credibility of the image.</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3.Four media-trust attitude questions, one attention-check item, and one optional open-ended question about the cues they used</a:t>
            </a:r>
            <a:endParaRPr lang="zh-CN" altLang="en-US" sz="2400" dirty="0">
              <a:latin typeface="Times New Roman" panose="02020603050405020304" pitchFamily="18" charset="0"/>
              <a:cs typeface="Times New Roman" panose="02020603050405020304" pitchFamily="18" charset="0"/>
            </a:endParaRPr>
          </a:p>
        </p:txBody>
      </p:sp>
      <p:pic>
        <p:nvPicPr>
          <p:cNvPr id="17" name="图片 16">
            <a:extLst>
              <a:ext uri="{FF2B5EF4-FFF2-40B4-BE49-F238E27FC236}">
                <a16:creationId xmlns:a16="http://schemas.microsoft.com/office/drawing/2014/main" id="{71C3F497-0186-EC77-DD6B-54D32418D40E}"/>
              </a:ext>
            </a:extLst>
          </p:cNvPr>
          <p:cNvPicPr>
            <a:picLocks noChangeAspect="1"/>
          </p:cNvPicPr>
          <p:nvPr/>
        </p:nvPicPr>
        <p:blipFill>
          <a:blip r:embed="rId3"/>
          <a:stretch>
            <a:fillRect/>
          </a:stretch>
        </p:blipFill>
        <p:spPr>
          <a:xfrm>
            <a:off x="3801136" y="745861"/>
            <a:ext cx="10049410" cy="3049771"/>
          </a:xfrm>
          <a:prstGeom prst="rect">
            <a:avLst/>
          </a:prstGeom>
        </p:spPr>
      </p:pic>
    </p:spTree>
    <p:extLst>
      <p:ext uri="{BB962C8B-B14F-4D97-AF65-F5344CB8AC3E}">
        <p14:creationId xmlns:p14="http://schemas.microsoft.com/office/powerpoint/2010/main" val="338656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DA33-7694-E7FD-7A51-0F581D3B77BD}"/>
            </a:ext>
          </a:extLst>
        </p:cNvPr>
        <p:cNvGrpSpPr/>
        <p:nvPr/>
      </p:nvGrpSpPr>
      <p:grpSpPr>
        <a:xfrm>
          <a:off x="0" y="0"/>
          <a:ext cx="0" cy="0"/>
          <a:chOff x="0" y="0"/>
          <a:chExt cx="0" cy="0"/>
        </a:xfrm>
      </p:grpSpPr>
      <p:sp>
        <p:nvSpPr>
          <p:cNvPr id="2" name="椭圆 1">
            <a:extLst>
              <a:ext uri="{FF2B5EF4-FFF2-40B4-BE49-F238E27FC236}">
                <a16:creationId xmlns:a16="http://schemas.microsoft.com/office/drawing/2014/main" id="{81DD551D-CF5A-9E16-41B7-A807C2759434}"/>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737BF332-8477-00D8-12AA-A5895396F885}"/>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4" name="椭圆 3">
            <a:extLst>
              <a:ext uri="{FF2B5EF4-FFF2-40B4-BE49-F238E27FC236}">
                <a16:creationId xmlns:a16="http://schemas.microsoft.com/office/drawing/2014/main" id="{76356606-6C81-7907-155F-A95432DE2A11}"/>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4805E94E-06C4-5DFB-EA43-2774E97758EB}"/>
              </a:ext>
            </a:extLst>
          </p:cNvPr>
          <p:cNvSpPr txBox="1"/>
          <p:nvPr/>
        </p:nvSpPr>
        <p:spPr>
          <a:xfrm>
            <a:off x="5097976" y="2598004"/>
            <a:ext cx="1996060" cy="1569660"/>
          </a:xfrm>
          <a:prstGeom prst="rect">
            <a:avLst/>
          </a:prstGeom>
          <a:noFill/>
        </p:spPr>
        <p:txBody>
          <a:bodyPr wrap="none" rtlCol="0">
            <a:spAutoFit/>
          </a:bodyPr>
          <a:lstStyle/>
          <a:p>
            <a:pPr algn="ctr"/>
            <a:r>
              <a:rPr lang="en-US" altLang="zh-CN" sz="4800" dirty="0">
                <a:latin typeface="Times New Roman" panose="02020603050405020304" pitchFamily="18" charset="0"/>
                <a:ea typeface="+mj-ea"/>
                <a:cs typeface="Times New Roman" panose="02020603050405020304" pitchFamily="18" charset="0"/>
              </a:rPr>
              <a:t>Results</a:t>
            </a:r>
          </a:p>
          <a:p>
            <a:pPr algn="ctr"/>
            <a:endParaRPr lang="zh-CN" altLang="en-US" sz="4800" dirty="0">
              <a:latin typeface="Times New Roman" panose="02020603050405020304" pitchFamily="18" charset="0"/>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D93DDCEB-F50B-1568-64BB-A9F0195B82EC}"/>
              </a:ext>
            </a:extLst>
          </p:cNvPr>
          <p:cNvSpPr txBox="1"/>
          <p:nvPr/>
        </p:nvSpPr>
        <p:spPr>
          <a:xfrm>
            <a:off x="5668540" y="3888138"/>
            <a:ext cx="854914" cy="369460"/>
          </a:xfrm>
          <a:prstGeom prst="rect">
            <a:avLst/>
          </a:prstGeom>
          <a:noFill/>
        </p:spPr>
        <p:txBody>
          <a:bodyPr wrap="none" rtlCol="0">
            <a:spAutoFit/>
          </a:bodyPr>
          <a:lstStyle/>
          <a:p>
            <a:pPr algn="ctr"/>
            <a:r>
              <a:rPr lang="en-US" altLang="zh-CN" sz="1801" dirty="0">
                <a:latin typeface="Times New Roman" panose="02020603050405020304" pitchFamily="18" charset="0"/>
                <a:ea typeface="+mj-ea"/>
                <a:cs typeface="Times New Roman" panose="02020603050405020304" pitchFamily="18" charset="0"/>
              </a:rPr>
              <a:t>PART3</a:t>
            </a:r>
            <a:endParaRPr lang="zh-CN" altLang="en-US" sz="180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370554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71F97D13-7700-3B63-FEA7-4EC097AD5314}"/>
              </a:ext>
            </a:extLst>
          </p:cNvPr>
          <p:cNvSpPr txBox="1"/>
          <p:nvPr/>
        </p:nvSpPr>
        <p:spPr>
          <a:xfrm>
            <a:off x="906965" y="386575"/>
            <a:ext cx="1394934"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Results</a:t>
            </a:r>
            <a:endParaRPr lang="zh-CN" altLang="en-US" sz="32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BF6E51F9-F521-24FA-EE78-ED9EE7D4B781}"/>
              </a:ext>
            </a:extLst>
          </p:cNvPr>
          <p:cNvSpPr txBox="1"/>
          <p:nvPr/>
        </p:nvSpPr>
        <p:spPr>
          <a:xfrm>
            <a:off x="906965" y="1183205"/>
            <a:ext cx="6831980" cy="523220"/>
          </a:xfrm>
          <a:prstGeom prst="rect">
            <a:avLst/>
          </a:prstGeom>
          <a:noFill/>
        </p:spPr>
        <p:txBody>
          <a:bodyPr wrap="square">
            <a:spAutoFit/>
          </a:bodyPr>
          <a:lstStyle/>
          <a:p>
            <a:r>
              <a:rPr lang="en-US" altLang="zh-CN" sz="2800" dirty="0">
                <a:latin typeface="Times New Roman" panose="02020603050405020304" pitchFamily="18" charset="0"/>
                <a:cs typeface="Times New Roman" panose="02020603050405020304" pitchFamily="18" charset="0"/>
              </a:rPr>
              <a:t>1.Accuracy</a:t>
            </a:r>
            <a:endParaRPr lang="zh-CN" altLang="en-US" sz="28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68F7683D-A3D1-6EA2-21B9-134551FA51D1}"/>
              </a:ext>
            </a:extLst>
          </p:cNvPr>
          <p:cNvSpPr txBox="1"/>
          <p:nvPr/>
        </p:nvSpPr>
        <p:spPr>
          <a:xfrm>
            <a:off x="1159725" y="1620136"/>
            <a:ext cx="6831980" cy="830997"/>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AI-generated images (52.9%)</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mages or screenshots (41.9%)</a:t>
            </a:r>
          </a:p>
        </p:txBody>
      </p:sp>
      <p:sp>
        <p:nvSpPr>
          <p:cNvPr id="22" name="文本框 21">
            <a:extLst>
              <a:ext uri="{FF2B5EF4-FFF2-40B4-BE49-F238E27FC236}">
                <a16:creationId xmlns:a16="http://schemas.microsoft.com/office/drawing/2014/main" id="{FCA9181C-9ABB-ED25-6303-088FF2CE484C}"/>
              </a:ext>
            </a:extLst>
          </p:cNvPr>
          <p:cNvSpPr txBox="1"/>
          <p:nvPr/>
        </p:nvSpPr>
        <p:spPr>
          <a:xfrm>
            <a:off x="906965" y="2612699"/>
            <a:ext cx="6831980" cy="523220"/>
          </a:xfrm>
          <a:prstGeom prst="rect">
            <a:avLst/>
          </a:prstGeom>
          <a:noFill/>
        </p:spPr>
        <p:txBody>
          <a:bodyPr wrap="square">
            <a:spAutoFit/>
          </a:bodyPr>
          <a:lstStyle/>
          <a:p>
            <a:r>
              <a:rPr lang="en-US" altLang="zh-CN" sz="28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Trust ratings</a:t>
            </a:r>
          </a:p>
        </p:txBody>
      </p:sp>
      <p:pic>
        <p:nvPicPr>
          <p:cNvPr id="23" name="Picture" descr="Figure 3. Mean trust rating by visual category.">
            <a:extLst>
              <a:ext uri="{FF2B5EF4-FFF2-40B4-BE49-F238E27FC236}">
                <a16:creationId xmlns:a16="http://schemas.microsoft.com/office/drawing/2014/main" id="{A76ED3A9-B59F-27E6-7C19-43E8C4D58B43}"/>
              </a:ext>
            </a:extLst>
          </p:cNvPr>
          <p:cNvPicPr/>
          <p:nvPr/>
        </p:nvPicPr>
        <p:blipFill>
          <a:blip r:embed="rId2"/>
          <a:stretch>
            <a:fillRect/>
          </a:stretch>
        </p:blipFill>
        <p:spPr bwMode="auto">
          <a:xfrm>
            <a:off x="5820935" y="3250805"/>
            <a:ext cx="5334000" cy="3359785"/>
          </a:xfrm>
          <a:prstGeom prst="rect">
            <a:avLst/>
          </a:prstGeom>
          <a:noFill/>
          <a:ln w="9525">
            <a:noFill/>
            <a:headEnd/>
            <a:tailEnd/>
          </a:ln>
        </p:spPr>
      </p:pic>
      <p:pic>
        <p:nvPicPr>
          <p:cNvPr id="24" name="Picture" descr="Figure 2. Source-judgement accuracy by visual category.">
            <a:extLst>
              <a:ext uri="{FF2B5EF4-FFF2-40B4-BE49-F238E27FC236}">
                <a16:creationId xmlns:a16="http://schemas.microsoft.com/office/drawing/2014/main" id="{25ABFFF0-C983-BD31-84E8-82D6477129BE}"/>
              </a:ext>
            </a:extLst>
          </p:cNvPr>
          <p:cNvPicPr/>
          <p:nvPr/>
        </p:nvPicPr>
        <p:blipFill>
          <a:blip r:embed="rId3"/>
          <a:stretch>
            <a:fillRect/>
          </a:stretch>
        </p:blipFill>
        <p:spPr bwMode="auto">
          <a:xfrm>
            <a:off x="5820935" y="198391"/>
            <a:ext cx="5334000" cy="3076575"/>
          </a:xfrm>
          <a:prstGeom prst="rect">
            <a:avLst/>
          </a:prstGeom>
          <a:noFill/>
          <a:ln w="9525">
            <a:noFill/>
            <a:headEnd/>
            <a:tailEnd/>
          </a:ln>
        </p:spPr>
      </p:pic>
      <p:sp>
        <p:nvSpPr>
          <p:cNvPr id="26" name="文本框 25">
            <a:extLst>
              <a:ext uri="{FF2B5EF4-FFF2-40B4-BE49-F238E27FC236}">
                <a16:creationId xmlns:a16="http://schemas.microsoft.com/office/drawing/2014/main" id="{ED67B74E-3044-3D79-496A-06B45E6E06AE}"/>
              </a:ext>
            </a:extLst>
          </p:cNvPr>
          <p:cNvSpPr txBox="1"/>
          <p:nvPr/>
        </p:nvSpPr>
        <p:spPr>
          <a:xfrm>
            <a:off x="906965" y="4074638"/>
            <a:ext cx="6831980" cy="523220"/>
          </a:xfrm>
          <a:prstGeom prst="rect">
            <a:avLst/>
          </a:prstGeom>
          <a:noFill/>
        </p:spPr>
        <p:txBody>
          <a:bodyPr wrap="square">
            <a:spAutoFit/>
          </a:bodyPr>
          <a:lstStyle/>
          <a:p>
            <a:r>
              <a:rPr lang="en-US" altLang="zh-CN" sz="2800" dirty="0">
                <a:latin typeface="Times New Roman" panose="02020603050405020304" pitchFamily="18" charset="0"/>
                <a:cs typeface="Times New Roman" panose="02020603050405020304" pitchFamily="18" charset="0"/>
              </a:rPr>
              <a:t>3.A</a:t>
            </a:r>
            <a:r>
              <a:rPr lang="zh-CN" altLang="en-US" sz="2800" dirty="0">
                <a:latin typeface="Times New Roman" panose="02020603050405020304" pitchFamily="18" charset="0"/>
                <a:cs typeface="Times New Roman" panose="02020603050405020304" pitchFamily="18" charset="0"/>
              </a:rPr>
              <a:t>ttitude</a:t>
            </a:r>
          </a:p>
        </p:txBody>
      </p:sp>
      <p:sp>
        <p:nvSpPr>
          <p:cNvPr id="28" name="文本框 27">
            <a:extLst>
              <a:ext uri="{FF2B5EF4-FFF2-40B4-BE49-F238E27FC236}">
                <a16:creationId xmlns:a16="http://schemas.microsoft.com/office/drawing/2014/main" id="{AD3ECE72-98FD-267D-91CD-C45D3C840288}"/>
              </a:ext>
            </a:extLst>
          </p:cNvPr>
          <p:cNvSpPr txBox="1"/>
          <p:nvPr/>
        </p:nvSpPr>
        <p:spPr>
          <a:xfrm>
            <a:off x="1159725" y="4597858"/>
            <a:ext cx="4661210" cy="1200329"/>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Respondents generally did not agree that online images and screenshots usually reflect reality (M = 2.39)</a:t>
            </a:r>
            <a:endParaRPr lang="zh-CN" altLang="en-US" sz="2400"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9FBE0711-C201-89CE-D5D5-5ED13385006A}"/>
              </a:ext>
            </a:extLst>
          </p:cNvPr>
          <p:cNvSpPr txBox="1"/>
          <p:nvPr/>
        </p:nvSpPr>
        <p:spPr>
          <a:xfrm>
            <a:off x="1159725" y="3126622"/>
            <a:ext cx="6831980" cy="830997"/>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AI-generated images (52.9%)</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mages or screenshots (41.9%)</a:t>
            </a:r>
          </a:p>
        </p:txBody>
      </p:sp>
    </p:spTree>
    <p:extLst>
      <p:ext uri="{BB962C8B-B14F-4D97-AF65-F5344CB8AC3E}">
        <p14:creationId xmlns:p14="http://schemas.microsoft.com/office/powerpoint/2010/main" val="462495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B19FB-8886-349C-E84A-E19527D59607}"/>
            </a:ext>
          </a:extLst>
        </p:cNvPr>
        <p:cNvGrpSpPr/>
        <p:nvPr/>
      </p:nvGrpSpPr>
      <p:grpSpPr>
        <a:xfrm>
          <a:off x="0" y="0"/>
          <a:ext cx="0" cy="0"/>
          <a:chOff x="0" y="0"/>
          <a:chExt cx="0" cy="0"/>
        </a:xfrm>
      </p:grpSpPr>
      <p:sp>
        <p:nvSpPr>
          <p:cNvPr id="2" name="椭圆 1">
            <a:extLst>
              <a:ext uri="{FF2B5EF4-FFF2-40B4-BE49-F238E27FC236}">
                <a16:creationId xmlns:a16="http://schemas.microsoft.com/office/drawing/2014/main" id="{0DF38BEE-F6E0-3984-23D7-27543F4D374F}"/>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107CCCC7-13DB-3CB1-73AA-648DF2A5B31A}"/>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4" name="椭圆 3">
            <a:extLst>
              <a:ext uri="{FF2B5EF4-FFF2-40B4-BE49-F238E27FC236}">
                <a16:creationId xmlns:a16="http://schemas.microsoft.com/office/drawing/2014/main" id="{B53CDCED-6CED-540A-FBA1-80A4B575DADC}"/>
              </a:ext>
            </a:extLst>
          </p:cNvPr>
          <p:cNvSpPr/>
          <p:nvPr/>
        </p:nvSpPr>
        <p:spPr>
          <a:xfrm>
            <a:off x="4385736" y="1718736"/>
            <a:ext cx="3420532" cy="34205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1">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5FB63A53-FABE-7304-8E35-9E8EF26146B5}"/>
              </a:ext>
            </a:extLst>
          </p:cNvPr>
          <p:cNvSpPr txBox="1"/>
          <p:nvPr/>
        </p:nvSpPr>
        <p:spPr>
          <a:xfrm>
            <a:off x="4653935" y="2644170"/>
            <a:ext cx="2884123" cy="1569660"/>
          </a:xfrm>
          <a:prstGeom prst="rect">
            <a:avLst/>
          </a:prstGeom>
          <a:noFill/>
        </p:spPr>
        <p:txBody>
          <a:bodyPr wrap="none" rtlCol="0">
            <a:spAutoFit/>
          </a:bodyPr>
          <a:lstStyle/>
          <a:p>
            <a:pPr algn="ctr"/>
            <a:r>
              <a:rPr lang="en-US" altLang="zh-CN" sz="4800" dirty="0">
                <a:latin typeface="Times New Roman" panose="02020603050405020304" pitchFamily="18" charset="0"/>
                <a:ea typeface="+mj-ea"/>
                <a:cs typeface="Times New Roman" panose="02020603050405020304" pitchFamily="18" charset="0"/>
              </a:rPr>
              <a:t>Discussion</a:t>
            </a:r>
          </a:p>
          <a:p>
            <a:pPr algn="ctr"/>
            <a:endParaRPr lang="zh-CN" altLang="en-US" sz="4800" dirty="0">
              <a:latin typeface="Times New Roman" panose="02020603050405020304" pitchFamily="18" charset="0"/>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7B3FE1DB-3A2B-D47F-912A-724610099614}"/>
              </a:ext>
            </a:extLst>
          </p:cNvPr>
          <p:cNvSpPr txBox="1"/>
          <p:nvPr/>
        </p:nvSpPr>
        <p:spPr>
          <a:xfrm>
            <a:off x="5668540" y="3888138"/>
            <a:ext cx="854914" cy="369460"/>
          </a:xfrm>
          <a:prstGeom prst="rect">
            <a:avLst/>
          </a:prstGeom>
          <a:noFill/>
        </p:spPr>
        <p:txBody>
          <a:bodyPr wrap="none" rtlCol="0">
            <a:spAutoFit/>
          </a:bodyPr>
          <a:lstStyle/>
          <a:p>
            <a:pPr algn="ctr"/>
            <a:r>
              <a:rPr lang="en-US" altLang="zh-CN" sz="1801" dirty="0">
                <a:latin typeface="Times New Roman" panose="02020603050405020304" pitchFamily="18" charset="0"/>
                <a:ea typeface="+mj-ea"/>
                <a:cs typeface="Times New Roman" panose="02020603050405020304" pitchFamily="18" charset="0"/>
              </a:rPr>
              <a:t>PART4</a:t>
            </a:r>
            <a:endParaRPr lang="zh-CN" altLang="en-US" sz="180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565078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098A-6F74-6AE5-7962-2057135715CA}"/>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10D367C2-63D1-D47B-80C0-1E6FC8CFE50B}"/>
              </a:ext>
            </a:extLst>
          </p:cNvPr>
          <p:cNvSpPr txBox="1"/>
          <p:nvPr/>
        </p:nvSpPr>
        <p:spPr>
          <a:xfrm>
            <a:off x="906965" y="386575"/>
            <a:ext cx="1988045"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Discussion</a:t>
            </a:r>
            <a:endParaRPr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C7D3D253-EC7D-E609-E098-D1F72CD17B97}"/>
              </a:ext>
            </a:extLst>
          </p:cNvPr>
          <p:cNvSpPr txBox="1"/>
          <p:nvPr/>
        </p:nvSpPr>
        <p:spPr>
          <a:xfrm>
            <a:off x="906965" y="990545"/>
            <a:ext cx="6831980" cy="584775"/>
          </a:xfrm>
          <a:prstGeom prst="rect">
            <a:avLst/>
          </a:prstGeom>
          <a:noFill/>
        </p:spPr>
        <p:txBody>
          <a:bodyPr wrap="square">
            <a:spAutoFit/>
          </a:bodyPr>
          <a:lstStyle/>
          <a:p>
            <a:r>
              <a:rPr lang="en-US" altLang="zh-CN" sz="3200" dirty="0">
                <a:effectLst/>
                <a:latin typeface="Times New Roman" panose="02020603050405020304" pitchFamily="18" charset="0"/>
                <a:ea typeface="Times New Roman" panose="02020603050405020304" pitchFamily="18" charset="0"/>
                <a:cs typeface="Times New Roman" panose="02020603050405020304" pitchFamily="18" charset="0"/>
              </a:rPr>
              <a:t>Findings</a:t>
            </a:r>
            <a:endParaRPr lang="zh-CN" altLang="en-US" sz="28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3ED5C38-477F-6C2B-7EF9-64926E8A10A6}"/>
              </a:ext>
            </a:extLst>
          </p:cNvPr>
          <p:cNvSpPr txBox="1"/>
          <p:nvPr/>
        </p:nvSpPr>
        <p:spPr>
          <a:xfrm>
            <a:off x="906965" y="1611252"/>
            <a:ext cx="6936058" cy="1015663"/>
          </a:xfrm>
          <a:prstGeom prst="rect">
            <a:avLst/>
          </a:prstGeom>
          <a:noFill/>
        </p:spPr>
        <p:txBody>
          <a:bodyPr wrap="square">
            <a:spAutoFit/>
          </a:bodyPr>
          <a:lstStyle/>
          <a:p>
            <a:pPr algn="l"/>
            <a:r>
              <a:rPr lang="en-US" altLang="zh-CN" sz="2000" b="0" i="0" u="none" strike="noStrike" baseline="0" dirty="0">
                <a:latin typeface="Times New Roman" panose="02020603050405020304" pitchFamily="18" charset="0"/>
                <a:cs typeface="Times New Roman" panose="02020603050405020304" pitchFamily="18" charset="0"/>
              </a:rPr>
              <a:t>The main finding is that source judgement was unstable. This pattern suggests that respondents were not only fooled by AI-generated images; they also became suspicious of real images.</a:t>
            </a:r>
            <a:endParaRPr lang="zh-CN" altLang="en-US" sz="20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D4ED6AB6-8C7B-DF82-AE8B-798FFB085E71}"/>
              </a:ext>
            </a:extLst>
          </p:cNvPr>
          <p:cNvPicPr>
            <a:picLocks noChangeAspect="1"/>
          </p:cNvPicPr>
          <p:nvPr/>
        </p:nvPicPr>
        <p:blipFill>
          <a:blip r:embed="rId3"/>
          <a:stretch>
            <a:fillRect/>
          </a:stretch>
        </p:blipFill>
        <p:spPr>
          <a:xfrm>
            <a:off x="989640" y="4394141"/>
            <a:ext cx="4629796" cy="1705213"/>
          </a:xfrm>
          <a:prstGeom prst="rect">
            <a:avLst/>
          </a:prstGeom>
        </p:spPr>
      </p:pic>
      <p:pic>
        <p:nvPicPr>
          <p:cNvPr id="17" name="图片 16">
            <a:extLst>
              <a:ext uri="{FF2B5EF4-FFF2-40B4-BE49-F238E27FC236}">
                <a16:creationId xmlns:a16="http://schemas.microsoft.com/office/drawing/2014/main" id="{59CC16E6-5E71-6BB5-3D84-0C70B1A323DE}"/>
              </a:ext>
            </a:extLst>
          </p:cNvPr>
          <p:cNvPicPr>
            <a:picLocks noChangeAspect="1"/>
          </p:cNvPicPr>
          <p:nvPr/>
        </p:nvPicPr>
        <p:blipFill>
          <a:blip r:embed="rId4"/>
          <a:stretch>
            <a:fillRect/>
          </a:stretch>
        </p:blipFill>
        <p:spPr>
          <a:xfrm>
            <a:off x="8279948" y="4703645"/>
            <a:ext cx="3899289" cy="2152858"/>
          </a:xfrm>
          <a:prstGeom prst="rect">
            <a:avLst/>
          </a:prstGeom>
        </p:spPr>
      </p:pic>
      <p:pic>
        <p:nvPicPr>
          <p:cNvPr id="19" name="Picture" descr="Figure 3. Mean trust rating by visual category.">
            <a:extLst>
              <a:ext uri="{FF2B5EF4-FFF2-40B4-BE49-F238E27FC236}">
                <a16:creationId xmlns:a16="http://schemas.microsoft.com/office/drawing/2014/main" id="{142BD448-60D4-D507-2BCA-EE05A6A780CF}"/>
              </a:ext>
            </a:extLst>
          </p:cNvPr>
          <p:cNvPicPr/>
          <p:nvPr/>
        </p:nvPicPr>
        <p:blipFill>
          <a:blip r:embed="rId5"/>
          <a:stretch>
            <a:fillRect/>
          </a:stretch>
        </p:blipFill>
        <p:spPr bwMode="auto">
          <a:xfrm>
            <a:off x="8292711" y="2247557"/>
            <a:ext cx="3899289" cy="2456088"/>
          </a:xfrm>
          <a:prstGeom prst="rect">
            <a:avLst/>
          </a:prstGeom>
          <a:noFill/>
          <a:ln w="9525">
            <a:noFill/>
            <a:headEnd/>
            <a:tailEnd/>
          </a:ln>
        </p:spPr>
      </p:pic>
      <p:pic>
        <p:nvPicPr>
          <p:cNvPr id="21" name="Picture" descr="Figure 2. Source-judgement accuracy by visual category.">
            <a:extLst>
              <a:ext uri="{FF2B5EF4-FFF2-40B4-BE49-F238E27FC236}">
                <a16:creationId xmlns:a16="http://schemas.microsoft.com/office/drawing/2014/main" id="{648539E6-602C-F45B-D0C3-1C2FF8D74861}"/>
              </a:ext>
            </a:extLst>
          </p:cNvPr>
          <p:cNvPicPr/>
          <p:nvPr/>
        </p:nvPicPr>
        <p:blipFill>
          <a:blip r:embed="rId6"/>
          <a:stretch>
            <a:fillRect/>
          </a:stretch>
        </p:blipFill>
        <p:spPr bwMode="auto">
          <a:xfrm>
            <a:off x="8279950" y="0"/>
            <a:ext cx="3899289" cy="2249054"/>
          </a:xfrm>
          <a:prstGeom prst="rect">
            <a:avLst/>
          </a:prstGeom>
          <a:noFill/>
          <a:ln w="9525">
            <a:noFill/>
            <a:headEnd/>
            <a:tailEnd/>
          </a:ln>
        </p:spPr>
      </p:pic>
      <p:sp>
        <p:nvSpPr>
          <p:cNvPr id="4" name="文本框 3">
            <a:extLst>
              <a:ext uri="{FF2B5EF4-FFF2-40B4-BE49-F238E27FC236}">
                <a16:creationId xmlns:a16="http://schemas.microsoft.com/office/drawing/2014/main" id="{CDD662EC-4564-C3D7-3845-2471609C6251}"/>
              </a:ext>
            </a:extLst>
          </p:cNvPr>
          <p:cNvSpPr txBox="1"/>
          <p:nvPr/>
        </p:nvSpPr>
        <p:spPr>
          <a:xfrm>
            <a:off x="906965" y="2662847"/>
            <a:ext cx="6832948" cy="1015663"/>
          </a:xfrm>
          <a:prstGeom prst="rect">
            <a:avLst/>
          </a:prstGeom>
          <a:noFill/>
        </p:spPr>
        <p:txBody>
          <a:bodyPr wrap="square">
            <a:spAutoFit/>
          </a:bodyPr>
          <a:lstStyle>
            <a:defPPr>
              <a:defRPr lang="zh-CN"/>
            </a:defPPr>
            <a:lvl1pPr>
              <a:defRPr sz="2000" b="0" i="0" u="none" strike="noStrike" baseline="0">
                <a:latin typeface="Times New Roman" panose="02020603050405020304" pitchFamily="18" charset="0"/>
                <a:cs typeface="Times New Roman" panose="02020603050405020304" pitchFamily="18" charset="0"/>
              </a:defRPr>
            </a:lvl1pPr>
          </a:lstStyle>
          <a:p>
            <a:r>
              <a:rPr lang="zh-CN" altLang="en-US" dirty="0"/>
              <a:t>The category-level results </a:t>
            </a:r>
            <a:r>
              <a:rPr lang="en-US" altLang="zh-CN" dirty="0"/>
              <a:t>suggest that visual authenticity is becoming difficult to judge, especially when real images look polished or artificial.</a:t>
            </a:r>
            <a:endParaRPr lang="zh-CN" altLang="en-US" dirty="0"/>
          </a:p>
        </p:txBody>
      </p:sp>
    </p:spTree>
    <p:extLst>
      <p:ext uri="{BB962C8B-B14F-4D97-AF65-F5344CB8AC3E}">
        <p14:creationId xmlns:p14="http://schemas.microsoft.com/office/powerpoint/2010/main" val="1445233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D4C14-D354-2AE0-3B5F-E74F39D56178}"/>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C2E9F52C-8903-EBF3-CC20-5AB4120DBDFE}"/>
              </a:ext>
            </a:extLst>
          </p:cNvPr>
          <p:cNvSpPr txBox="1"/>
          <p:nvPr/>
        </p:nvSpPr>
        <p:spPr>
          <a:xfrm>
            <a:off x="906965" y="386575"/>
            <a:ext cx="1988045"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Discussion</a:t>
            </a:r>
            <a:endParaRPr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3DB6ECB0-8C76-0DE8-026C-B84EAFAB2616}"/>
              </a:ext>
            </a:extLst>
          </p:cNvPr>
          <p:cNvSpPr txBox="1"/>
          <p:nvPr/>
        </p:nvSpPr>
        <p:spPr>
          <a:xfrm>
            <a:off x="906965" y="971350"/>
            <a:ext cx="3026791" cy="584775"/>
          </a:xfrm>
          <a:prstGeom prst="rect">
            <a:avLst/>
          </a:prstGeom>
          <a:noFill/>
        </p:spPr>
        <p:txBody>
          <a:bodyPr wrap="none" rtlCol="0">
            <a:spAutoFit/>
          </a:bodyPr>
          <a:lstStyle>
            <a:defPPr>
              <a:defRPr lang="zh-CN"/>
            </a:defPPr>
            <a:lvl1pPr>
              <a:defRPr sz="3200">
                <a:latin typeface="Times New Roman" panose="02020603050405020304" pitchFamily="18" charset="0"/>
                <a:cs typeface="Times New Roman" panose="02020603050405020304" pitchFamily="18" charset="0"/>
              </a:defRPr>
            </a:lvl1pPr>
          </a:lstStyle>
          <a:p>
            <a:r>
              <a:rPr lang="en-US" altLang="zh-CN" dirty="0"/>
              <a:t>Possible Reasons</a:t>
            </a:r>
            <a:endParaRPr lang="zh-CN" altLang="zh-CN" dirty="0"/>
          </a:p>
        </p:txBody>
      </p:sp>
      <p:sp>
        <p:nvSpPr>
          <p:cNvPr id="2" name="文本框 1">
            <a:extLst>
              <a:ext uri="{FF2B5EF4-FFF2-40B4-BE49-F238E27FC236}">
                <a16:creationId xmlns:a16="http://schemas.microsoft.com/office/drawing/2014/main" id="{0799A8C4-928B-F49E-C337-174D65264910}"/>
              </a:ext>
            </a:extLst>
          </p:cNvPr>
          <p:cNvSpPr txBox="1"/>
          <p:nvPr/>
        </p:nvSpPr>
        <p:spPr>
          <a:xfrm>
            <a:off x="906965" y="1556125"/>
            <a:ext cx="9062802" cy="1384995"/>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1.Respondents may have used surface visual cues too heavily.</a:t>
            </a:r>
          </a:p>
          <a:p>
            <a:r>
              <a:rPr lang="en-US" altLang="zh-CN" sz="2800" dirty="0">
                <a:latin typeface="Times New Roman" panose="02020603050405020304" pitchFamily="18" charset="0"/>
                <a:cs typeface="Times New Roman" panose="02020603050405020304" pitchFamily="18" charset="0"/>
              </a:rPr>
              <a:t>2.The materials were selected purposively.</a:t>
            </a:r>
          </a:p>
          <a:p>
            <a:r>
              <a:rPr lang="en-US" altLang="zh-CN" sz="2800" dirty="0">
                <a:latin typeface="Times New Roman" panose="02020603050405020304" pitchFamily="18" charset="0"/>
                <a:cs typeface="Times New Roman" panose="02020603050405020304" pitchFamily="18" charset="0"/>
              </a:rPr>
              <a:t>3.Screenshot-like materials provide contextual cues. </a:t>
            </a:r>
            <a:endParaRPr lang="zh-CN" altLang="en-US" sz="2800" dirty="0">
              <a:latin typeface="Times New Roman" panose="02020603050405020304" pitchFamily="18" charset="0"/>
              <a:cs typeface="Times New Roman" panose="02020603050405020304" pitchFamily="18" charset="0"/>
            </a:endParaRPr>
          </a:p>
        </p:txBody>
      </p:sp>
      <p:pic>
        <p:nvPicPr>
          <p:cNvPr id="4" name="Picture" descr="Figure 2. Source-judgement accuracy by visual category.">
            <a:extLst>
              <a:ext uri="{FF2B5EF4-FFF2-40B4-BE49-F238E27FC236}">
                <a16:creationId xmlns:a16="http://schemas.microsoft.com/office/drawing/2014/main" id="{7C72F148-EB3C-FC60-7B25-3A164665E065}"/>
              </a:ext>
            </a:extLst>
          </p:cNvPr>
          <p:cNvPicPr/>
          <p:nvPr/>
        </p:nvPicPr>
        <p:blipFill>
          <a:blip r:embed="rId3"/>
          <a:stretch>
            <a:fillRect/>
          </a:stretch>
        </p:blipFill>
        <p:spPr bwMode="auto">
          <a:xfrm>
            <a:off x="906965" y="3013268"/>
            <a:ext cx="5709425" cy="3458157"/>
          </a:xfrm>
          <a:prstGeom prst="rect">
            <a:avLst/>
          </a:prstGeom>
          <a:noFill/>
          <a:ln w="9525">
            <a:noFill/>
            <a:headEnd/>
            <a:tailEnd/>
          </a:ln>
        </p:spPr>
      </p:pic>
    </p:spTree>
    <p:extLst>
      <p:ext uri="{BB962C8B-B14F-4D97-AF65-F5344CB8AC3E}">
        <p14:creationId xmlns:p14="http://schemas.microsoft.com/office/powerpoint/2010/main" val="178764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5A9D-A713-09FB-6B60-AB02B84B9A36}"/>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08A85FC3-4BBE-55D3-6D8A-D02C24EE0F0E}"/>
              </a:ext>
            </a:extLst>
          </p:cNvPr>
          <p:cNvSpPr txBox="1"/>
          <p:nvPr/>
        </p:nvSpPr>
        <p:spPr>
          <a:xfrm>
            <a:off x="906965" y="386575"/>
            <a:ext cx="1988045"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Discussion</a:t>
            </a:r>
            <a:endParaRPr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DD68DDDE-E94A-E3BF-37E5-6DC0907D7B5F}"/>
              </a:ext>
            </a:extLst>
          </p:cNvPr>
          <p:cNvSpPr txBox="1"/>
          <p:nvPr/>
        </p:nvSpPr>
        <p:spPr>
          <a:xfrm>
            <a:off x="906965" y="619647"/>
            <a:ext cx="7513595" cy="927177"/>
          </a:xfrm>
          <a:prstGeom prst="rect">
            <a:avLst/>
          </a:prstGeom>
          <a:noFill/>
        </p:spPr>
        <p:txBody>
          <a:bodyPr wrap="none" rtlCol="0">
            <a:spAutoFit/>
          </a:bodyPr>
          <a:lstStyle>
            <a:defPPr>
              <a:defRPr lang="zh-CN"/>
            </a:defPPr>
            <a:lvl1pPr>
              <a:defRPr sz="3200">
                <a:latin typeface="Times New Roman" panose="02020603050405020304" pitchFamily="18" charset="0"/>
                <a:cs typeface="Times New Roman" panose="02020603050405020304" pitchFamily="18" charset="0"/>
              </a:defRPr>
            </a:lvl1pPr>
          </a:lstStyle>
          <a:p>
            <a:pPr>
              <a:lnSpc>
                <a:spcPct val="200000"/>
              </a:lnSpc>
              <a:spcBef>
                <a:spcPts val="1000"/>
              </a:spcBef>
            </a:pPr>
            <a:r>
              <a:rPr lang="en-US" altLang="zh-CN" dirty="0"/>
              <a:t>Limitations                                Implications</a:t>
            </a:r>
            <a:endParaRPr lang="zh-CN" altLang="zh-CN" dirty="0"/>
          </a:p>
        </p:txBody>
      </p:sp>
      <p:sp>
        <p:nvSpPr>
          <p:cNvPr id="5" name="文本框 4">
            <a:extLst>
              <a:ext uri="{FF2B5EF4-FFF2-40B4-BE49-F238E27FC236}">
                <a16:creationId xmlns:a16="http://schemas.microsoft.com/office/drawing/2014/main" id="{6476F5BA-0E50-DDCF-74C3-84D9E0BB7A33}"/>
              </a:ext>
            </a:extLst>
          </p:cNvPr>
          <p:cNvSpPr txBox="1"/>
          <p:nvPr/>
        </p:nvSpPr>
        <p:spPr>
          <a:xfrm>
            <a:off x="1855268" y="2675054"/>
            <a:ext cx="45719" cy="369332"/>
          </a:xfrm>
          <a:prstGeom prst="rect">
            <a:avLst/>
          </a:prstGeom>
          <a:noFill/>
        </p:spPr>
        <p:txBody>
          <a:bodyPr wrap="square" rtlCol="0">
            <a:spAutoFit/>
          </a:bodyPr>
          <a:lstStyle/>
          <a:p>
            <a:endParaRPr lang="zh-CN" altLang="en-US" dirty="0"/>
          </a:p>
        </p:txBody>
      </p:sp>
      <p:sp>
        <p:nvSpPr>
          <p:cNvPr id="7" name="文本框 6">
            <a:extLst>
              <a:ext uri="{FF2B5EF4-FFF2-40B4-BE49-F238E27FC236}">
                <a16:creationId xmlns:a16="http://schemas.microsoft.com/office/drawing/2014/main" id="{DFAF8B14-5BE8-681C-1860-DD06FD0C92CF}"/>
              </a:ext>
            </a:extLst>
          </p:cNvPr>
          <p:cNvSpPr txBox="1"/>
          <p:nvPr/>
        </p:nvSpPr>
        <p:spPr>
          <a:xfrm>
            <a:off x="906965" y="1546824"/>
            <a:ext cx="5189035" cy="4154984"/>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he survey used a small convenience sample of university-level respondents, so the results should be interpreted as descriptive rather than representative of all social media users.</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The </a:t>
            </a:r>
            <a:r>
              <a:rPr lang="zh-CN" altLang="en-US" sz="2400" dirty="0">
                <a:latin typeface="Times New Roman" panose="02020603050405020304" pitchFamily="18" charset="0"/>
                <a:cs typeface="Times New Roman" panose="02020603050405020304" pitchFamily="18" charset="0"/>
              </a:rPr>
              <a:t>stimulus set was purposively selected and contained only 18 images. Differences in image topic, resolution, platform style, and visual quality may have influenced participants’ judgements. </a:t>
            </a:r>
            <a:endParaRPr lang="en-US" altLang="zh-CN"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6241B834-569A-B27F-E48B-423340FE3E5F}"/>
              </a:ext>
            </a:extLst>
          </p:cNvPr>
          <p:cNvSpPr txBox="1"/>
          <p:nvPr/>
        </p:nvSpPr>
        <p:spPr>
          <a:xfrm>
            <a:off x="6096000" y="1546824"/>
            <a:ext cx="5283200" cy="4893647"/>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Platforms and educators should not assume that users can reliably identify AI-generated images through visual inspection alone. </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edia literacy training should address not only fake photographs but also fake visual contexts, including livestream interfaces, screenshots, comments, prices, and other platform cues that can make synthetic material appear socially credible.</a:t>
            </a:r>
          </a:p>
        </p:txBody>
      </p:sp>
    </p:spTree>
    <p:extLst>
      <p:ext uri="{BB962C8B-B14F-4D97-AF65-F5344CB8AC3E}">
        <p14:creationId xmlns:p14="http://schemas.microsoft.com/office/powerpoint/2010/main" val="4055886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7051-9ED9-0A41-10E1-66EB28A5AD25}"/>
            </a:ext>
          </a:extLst>
        </p:cNvPr>
        <p:cNvGrpSpPr/>
        <p:nvPr/>
      </p:nvGrpSpPr>
      <p:grpSpPr>
        <a:xfrm>
          <a:off x="0" y="0"/>
          <a:ext cx="0" cy="0"/>
          <a:chOff x="0" y="0"/>
          <a:chExt cx="0" cy="0"/>
        </a:xfrm>
      </p:grpSpPr>
      <p:sp>
        <p:nvSpPr>
          <p:cNvPr id="16" name="文本框 15">
            <a:extLst>
              <a:ext uri="{FF2B5EF4-FFF2-40B4-BE49-F238E27FC236}">
                <a16:creationId xmlns:a16="http://schemas.microsoft.com/office/drawing/2014/main" id="{C2826782-707E-C871-9039-607A4E6AC621}"/>
              </a:ext>
            </a:extLst>
          </p:cNvPr>
          <p:cNvSpPr txBox="1"/>
          <p:nvPr/>
        </p:nvSpPr>
        <p:spPr>
          <a:xfrm>
            <a:off x="906965" y="386575"/>
            <a:ext cx="1988045"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Discussion</a:t>
            </a:r>
            <a:endParaRPr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B0A8731E-B0CE-839F-046B-6D41689C2926}"/>
              </a:ext>
            </a:extLst>
          </p:cNvPr>
          <p:cNvSpPr txBox="1"/>
          <p:nvPr/>
        </p:nvSpPr>
        <p:spPr>
          <a:xfrm>
            <a:off x="906965" y="619647"/>
            <a:ext cx="2055371" cy="2040302"/>
          </a:xfrm>
          <a:prstGeom prst="rect">
            <a:avLst/>
          </a:prstGeom>
          <a:noFill/>
        </p:spPr>
        <p:txBody>
          <a:bodyPr wrap="none" rtlCol="0">
            <a:spAutoFit/>
          </a:bodyPr>
          <a:lstStyle>
            <a:defPPr>
              <a:defRPr lang="zh-CN"/>
            </a:defPPr>
            <a:lvl1pPr>
              <a:defRPr sz="3200">
                <a:latin typeface="Times New Roman" panose="02020603050405020304" pitchFamily="18" charset="0"/>
                <a:cs typeface="Times New Roman" panose="02020603050405020304" pitchFamily="18" charset="0"/>
              </a:defRPr>
            </a:lvl1pPr>
          </a:lstStyle>
          <a:p>
            <a:pPr>
              <a:lnSpc>
                <a:spcPct val="200000"/>
              </a:lnSpc>
              <a:spcBef>
                <a:spcPts val="1000"/>
              </a:spcBef>
            </a:pPr>
            <a:r>
              <a:rPr lang="en-US" altLang="zh-CN" dirty="0"/>
              <a:t>Conclusion</a:t>
            </a:r>
          </a:p>
          <a:p>
            <a:pPr>
              <a:lnSpc>
                <a:spcPct val="200000"/>
              </a:lnSpc>
              <a:spcBef>
                <a:spcPts val="1000"/>
              </a:spcBef>
            </a:pPr>
            <a:endParaRPr lang="zh-CN" altLang="zh-CN" dirty="0"/>
          </a:p>
        </p:txBody>
      </p:sp>
      <p:sp>
        <p:nvSpPr>
          <p:cNvPr id="5" name="文本框 4">
            <a:extLst>
              <a:ext uri="{FF2B5EF4-FFF2-40B4-BE49-F238E27FC236}">
                <a16:creationId xmlns:a16="http://schemas.microsoft.com/office/drawing/2014/main" id="{AB1D65FD-6497-3494-7F74-931BD965AC39}"/>
              </a:ext>
            </a:extLst>
          </p:cNvPr>
          <p:cNvSpPr txBox="1"/>
          <p:nvPr/>
        </p:nvSpPr>
        <p:spPr>
          <a:xfrm>
            <a:off x="1855268" y="2675054"/>
            <a:ext cx="45719" cy="369332"/>
          </a:xfrm>
          <a:prstGeom prst="rect">
            <a:avLst/>
          </a:prstGeom>
          <a:noFill/>
        </p:spPr>
        <p:txBody>
          <a:bodyPr wrap="square" rtlCol="0">
            <a:spAutoFit/>
          </a:bodyPr>
          <a:lstStyle/>
          <a:p>
            <a:endParaRPr lang="zh-CN" altLang="en-US" dirty="0"/>
          </a:p>
        </p:txBody>
      </p:sp>
      <p:sp>
        <p:nvSpPr>
          <p:cNvPr id="4" name="文本框 3">
            <a:extLst>
              <a:ext uri="{FF2B5EF4-FFF2-40B4-BE49-F238E27FC236}">
                <a16:creationId xmlns:a16="http://schemas.microsoft.com/office/drawing/2014/main" id="{3779ADCE-24B7-4628-5CD4-8180E35455D0}"/>
              </a:ext>
            </a:extLst>
          </p:cNvPr>
          <p:cNvSpPr txBox="1"/>
          <p:nvPr/>
        </p:nvSpPr>
        <p:spPr>
          <a:xfrm>
            <a:off x="906964" y="1720840"/>
            <a:ext cx="9429767" cy="3539430"/>
          </a:xfrm>
          <a:prstGeom prst="rect">
            <a:avLst/>
          </a:prstGeom>
          <a:noFill/>
        </p:spPr>
        <p:txBody>
          <a:bodyPr wrap="square">
            <a:spAutoFit/>
          </a:bodyPr>
          <a:lstStyle/>
          <a:p>
            <a:r>
              <a:rPr lang="zh-CN" altLang="en-US" sz="2800" dirty="0">
                <a:latin typeface="Times New Roman" panose="02020603050405020304" pitchFamily="18" charset="0"/>
                <a:cs typeface="Times New Roman" panose="02020603050405020304" pitchFamily="18" charset="0"/>
              </a:rPr>
              <a:t>The study suggests that ordinary visual judgement is not enough for evaluating AI-generated online images. Respondents showed limited accuracy, moderate trust, and some uncertainty about both real and AI-generated materials. As image-generation tools become better at producing realistic images, readable text, and interface-like screenshots, users may need clearer platform labels, stronger verification habits, and better media literacy training.</a:t>
            </a:r>
          </a:p>
        </p:txBody>
      </p:sp>
    </p:spTree>
    <p:extLst>
      <p:ext uri="{BB962C8B-B14F-4D97-AF65-F5344CB8AC3E}">
        <p14:creationId xmlns:p14="http://schemas.microsoft.com/office/powerpoint/2010/main" val="1393546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999可商用">
      <a:majorFont>
        <a:latin typeface="Baskerville Old Face"/>
        <a:ea typeface="思源宋体 CN Heavy"/>
        <a:cs typeface=""/>
      </a:majorFont>
      <a:minorFont>
        <a:latin typeface="Baskerville Old Face"/>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999可商用">
      <a:majorFont>
        <a:latin typeface="Baskerville Old Face"/>
        <a:ea typeface="思源宋体 CN Heavy"/>
        <a:cs typeface=""/>
      </a:majorFont>
      <a:minorFont>
        <a:latin typeface="Baskerville Old Face"/>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263</TotalTime>
  <Words>504</Words>
  <Application>Microsoft Office PowerPoint</Application>
  <PresentationFormat>宽屏</PresentationFormat>
  <Paragraphs>57</Paragraphs>
  <Slides>12</Slides>
  <Notes>4</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12</vt:i4>
      </vt:variant>
    </vt:vector>
  </HeadingPairs>
  <TitlesOfParts>
    <vt:vector size="18" baseType="lpstr">
      <vt:lpstr>等线</vt:lpstr>
      <vt:lpstr>Arial</vt:lpstr>
      <vt:lpstr>Baskerville Old Face</vt:lpstr>
      <vt:lpstr>Times New Roman</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寒页_</dc:creator>
  <cp:lastModifiedBy>育博 熊</cp:lastModifiedBy>
  <cp:revision>7</cp:revision>
  <dcterms:created xsi:type="dcterms:W3CDTF">2025-03-01T14:33:39Z</dcterms:created>
  <dcterms:modified xsi:type="dcterms:W3CDTF">2026-06-11T10:35:28Z</dcterms:modified>
</cp:coreProperties>
</file>